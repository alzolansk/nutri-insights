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Protótipo de relatórios nutricionais sobre dados da conta FatSecret. Todos os números do deck são demonstrativos.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conceito de fraqueza vira padrão mensurável: janela, amostra e regra sempre visíveis.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abas fixas. Metas pelo avatar, Alimentos dentro de Padrões, explicação metodológica em bottom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acentos com papel fixo. Cor nunca é o único canal de informação.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Manrope para conteúdo, IBM Plex Mono para procedência do dado. Números sempre tabulares.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 inicial: anel de meta, macros, distribuição por refeição e no máximo dois insights.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Dias ausentes aparecem como contorno tracejado e ficam fora das médias.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padrão abre janela, amostra, regra de cálculo e limitação — é o que impede o tom de julgamento.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calendário informa, não culpa. Peso e calorias compartilham o eixo de tempo, com aviso fixo de não-causalidade.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estados definidos. Falha de sync mantém os últimos dados válidos e data a origem.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quatro decisões que sustentam o resto do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o que o protótipo deliberadamente não faz.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1204913"/>
            <a:ext cx="133350" cy="133350"/>
          </a:xfrm>
          <a:prstGeom prst="roundRect">
            <a:avLst>
              <a:gd name="adj" fmla="val 35714"/>
            </a:avLst>
          </a:prstGeom>
          <a:solidFill>
            <a:srgbClr val="84E0A8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1143000"/>
            <a:ext cx="43419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PROTÓTIPO DE UX/UI · ANDROID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38250" y="3671888"/>
            <a:ext cx="1739265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928"/>
              </a:lnSpc>
              <a:buNone/>
            </a:pPr>
            <a:r>
              <a:rPr lang="en-US" sz="9900" b="1" spc="-445" kern="0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Nutri Insights</a:t>
            </a:r>
            <a:endParaRPr lang="en-US" sz="9900" dirty="0"/>
          </a:p>
        </p:txBody>
      </p:sp>
      <p:sp>
        <p:nvSpPr>
          <p:cNvPr id="5" name="Text 3"/>
          <p:cNvSpPr/>
          <p:nvPr/>
        </p:nvSpPr>
        <p:spPr>
          <a:xfrm>
            <a:off x="1238250" y="5253038"/>
            <a:ext cx="11576685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818"/>
              </a:lnSpc>
              <a:buNone/>
            </a:pPr>
            <a:r>
              <a:rPr lang="en-US" sz="3000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Relatórios nutricionais e tendências pessoais sobre os dados da conta FatSecret — padrões mensuráveis, nunca julgamento.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238250" y="8591550"/>
            <a:ext cx="1932533" cy="552450"/>
          </a:xfrm>
          <a:prstGeom prst="roundRect">
            <a:avLst>
              <a:gd name="adj" fmla="val 24138"/>
            </a:avLst>
          </a:prstGeom>
          <a:solidFill>
            <a:srgbClr val="84E0A8">
              <a:alpha val="13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485900" y="8724900"/>
            <a:ext cx="151343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84E0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telas de MVP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342233" y="8591550"/>
            <a:ext cx="2945606" cy="552450"/>
          </a:xfrm>
          <a:prstGeom prst="roundRect">
            <a:avLst>
              <a:gd name="adj" fmla="val 24138"/>
            </a:avLst>
          </a:prstGeom>
          <a:solidFill>
            <a:srgbClr val="5FC8E8">
              <a:alpha val="13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589883" y="8724900"/>
            <a:ext cx="25386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FC8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 system completo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459289" y="8591550"/>
            <a:ext cx="2744688" cy="552450"/>
          </a:xfrm>
          <a:prstGeom prst="roundRect">
            <a:avLst>
              <a:gd name="adj" fmla="val 24138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706939" y="8724900"/>
            <a:ext cx="233172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Dados demonstrativos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52500"/>
            <a:ext cx="173926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PRINCÍPIO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8250" y="1400175"/>
            <a:ext cx="17392650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04"/>
              </a:lnSpc>
              <a:buNone/>
            </a:pPr>
            <a:r>
              <a:rPr lang="en-US" sz="5100" b="1" spc="-153" kern="0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Padrão mensurável, não julgamento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238250" y="2646015"/>
            <a:ext cx="7734300" cy="6688485"/>
          </a:xfrm>
          <a:prstGeom prst="roundRect">
            <a:avLst>
              <a:gd name="adj" fmla="val 3987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6875" y="3131790"/>
            <a:ext cx="47625" cy="247650"/>
          </a:xfrm>
          <a:prstGeom prst="roundRect">
            <a:avLst>
              <a:gd name="adj" fmla="val 50000"/>
            </a:avLst>
          </a:prstGeom>
          <a:solidFill>
            <a:srgbClr val="84E0A8"/>
          </a:solidFill>
          <a:ln/>
        </p:spPr>
      </p:sp>
      <p:sp>
        <p:nvSpPr>
          <p:cNvPr id="6" name="Text 4"/>
          <p:cNvSpPr/>
          <p:nvPr/>
        </p:nvSpPr>
        <p:spPr>
          <a:xfrm>
            <a:off x="1847850" y="3074640"/>
            <a:ext cx="225511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Como o app fala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666875" y="3741390"/>
            <a:ext cx="6877050" cy="1215330"/>
          </a:xfrm>
          <a:prstGeom prst="roundRect">
            <a:avLst>
              <a:gd name="adj" fmla="val 14107"/>
            </a:avLst>
          </a:prstGeom>
          <a:solidFill>
            <a:srgbClr val="1B2539"/>
          </a:solidFill>
          <a:ln/>
        </p:spPr>
      </p:sp>
      <p:sp>
        <p:nvSpPr>
          <p:cNvPr id="8" name="Text 6"/>
          <p:cNvSpPr/>
          <p:nvPr/>
        </p:nvSpPr>
        <p:spPr>
          <a:xfrm>
            <a:off x="1933575" y="3989040"/>
            <a:ext cx="6549962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025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Sua proteína ficou abaixo da meta em 64% dos dias registrados.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1666875" y="5166271"/>
            <a:ext cx="6877050" cy="1215330"/>
          </a:xfrm>
          <a:prstGeom prst="roundRect">
            <a:avLst>
              <a:gd name="adj" fmla="val 14107"/>
            </a:avLst>
          </a:prstGeom>
          <a:solidFill>
            <a:srgbClr val="1B2539"/>
          </a:solidFill>
          <a:ln/>
        </p:spPr>
      </p:sp>
      <p:sp>
        <p:nvSpPr>
          <p:cNvPr id="10" name="Text 8"/>
          <p:cNvSpPr/>
          <p:nvPr/>
        </p:nvSpPr>
        <p:spPr>
          <a:xfrm>
            <a:off x="1933575" y="5413921"/>
            <a:ext cx="6549962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025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Sábado teve a maior média calórica nas últimas quatro semanas.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666875" y="6591151"/>
            <a:ext cx="6877050" cy="1215330"/>
          </a:xfrm>
          <a:prstGeom prst="roundRect">
            <a:avLst>
              <a:gd name="adj" fmla="val 14107"/>
            </a:avLst>
          </a:prstGeom>
          <a:solidFill>
            <a:srgbClr val="1B2539"/>
          </a:solidFill>
          <a:ln/>
        </p:spPr>
      </p:sp>
      <p:sp>
        <p:nvSpPr>
          <p:cNvPr id="12" name="Text 10"/>
          <p:cNvSpPr/>
          <p:nvPr/>
        </p:nvSpPr>
        <p:spPr>
          <a:xfrm>
            <a:off x="1933575" y="6838801"/>
            <a:ext cx="6549962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025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jantar representa, em média, 42% das calorias registradas.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1666875" y="8016032"/>
            <a:ext cx="6877050" cy="855315"/>
          </a:xfrm>
          <a:prstGeom prst="roundRect">
            <a:avLst>
              <a:gd name="adj" fmla="val 20045"/>
            </a:avLst>
          </a:prstGeom>
          <a:solidFill>
            <a:srgbClr val="1B2539"/>
          </a:solidFill>
          <a:ln/>
        </p:spPr>
      </p:sp>
      <p:sp>
        <p:nvSpPr>
          <p:cNvPr id="14" name="Text 12"/>
          <p:cNvSpPr/>
          <p:nvPr/>
        </p:nvSpPr>
        <p:spPr>
          <a:xfrm>
            <a:off x="1933575" y="8263682"/>
            <a:ext cx="654996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025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Você registrou 12 dos últimos 14 dias.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315450" y="2646015"/>
            <a:ext cx="7734300" cy="6688485"/>
          </a:xfrm>
          <a:prstGeom prst="roundRect">
            <a:avLst>
              <a:gd name="adj" fmla="val 3987"/>
            </a:avLst>
          </a:prstGeom>
          <a:ln w="9525">
            <a:solidFill>
              <a:srgbClr val="FFFFFF">
                <a:alpha val="13000"/>
              </a:srgbClr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9744075" y="3131790"/>
            <a:ext cx="47625" cy="247650"/>
          </a:xfrm>
          <a:prstGeom prst="roundRect">
            <a:avLst>
              <a:gd name="adj" fmla="val 50000"/>
            </a:avLst>
          </a:prstGeom>
          <a:solidFill>
            <a:srgbClr val="F0806F"/>
          </a:solidFill>
          <a:ln/>
        </p:spPr>
      </p:sp>
      <p:sp>
        <p:nvSpPr>
          <p:cNvPr id="17" name="Text 15"/>
          <p:cNvSpPr/>
          <p:nvPr/>
        </p:nvSpPr>
        <p:spPr>
          <a:xfrm>
            <a:off x="9925050" y="3074640"/>
            <a:ext cx="297102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que nunca aparece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744075" y="3741390"/>
            <a:ext cx="6877050" cy="874365"/>
          </a:xfrm>
          <a:prstGeom prst="roundRect">
            <a:avLst>
              <a:gd name="adj" fmla="val 19609"/>
            </a:avLst>
          </a:prstGeom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20300" y="3998565"/>
            <a:ext cx="653091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025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Você não tem autocontrole.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9744075" y="4825305"/>
            <a:ext cx="6877050" cy="874365"/>
          </a:xfrm>
          <a:prstGeom prst="roundRect">
            <a:avLst>
              <a:gd name="adj" fmla="val 19609"/>
            </a:avLst>
          </a:prstGeom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20300" y="5082480"/>
            <a:ext cx="653091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025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Você come mal.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9744075" y="5909221"/>
            <a:ext cx="6877050" cy="874365"/>
          </a:xfrm>
          <a:prstGeom prst="roundRect">
            <a:avLst>
              <a:gd name="adj" fmla="val 19609"/>
            </a:avLst>
          </a:prstGeom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20300" y="6166396"/>
            <a:ext cx="653091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025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Este alimento está impedindo seu emagrecimento.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9744075" y="6993136"/>
            <a:ext cx="6877050" cy="874365"/>
          </a:xfrm>
          <a:prstGeom prst="roundRect">
            <a:avLst>
              <a:gd name="adj" fmla="val 19609"/>
            </a:avLst>
          </a:prstGeom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20300" y="7250311"/>
            <a:ext cx="653091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025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Seu peso aumentou por causa do jantar.</a:t>
            </a:r>
            <a:endParaRPr lang="en-US" sz="20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52500"/>
            <a:ext cx="173926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ESTRUTURA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8250" y="1400175"/>
            <a:ext cx="17392650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04"/>
              </a:lnSpc>
              <a:buNone/>
            </a:pPr>
            <a:r>
              <a:rPr lang="en-US" sz="5100" b="1" spc="-153" kern="0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Mapa de navegação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238250" y="2607915"/>
            <a:ext cx="2994571" cy="2540050"/>
          </a:xfrm>
          <a:prstGeom prst="roundRect">
            <a:avLst>
              <a:gd name="adj" fmla="val 9750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90675" y="2960340"/>
            <a:ext cx="251869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ABA 01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590675" y="3312765"/>
            <a:ext cx="251869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84E0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Hoje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590675" y="3884265"/>
            <a:ext cx="2365921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33"/>
              </a:lnSpc>
              <a:buNone/>
            </a:pPr>
            <a:r>
              <a:rPr lang="en-US" sz="1650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Estado do dia, macros, refeições, leitura do dia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442371" y="2607915"/>
            <a:ext cx="2994720" cy="2540050"/>
          </a:xfrm>
          <a:prstGeom prst="roundRect">
            <a:avLst>
              <a:gd name="adj" fmla="val 9750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94796" y="2960340"/>
            <a:ext cx="251885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ABA 02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94796" y="3312765"/>
            <a:ext cx="251885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Tendências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794796" y="3884265"/>
            <a:ext cx="2366070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33"/>
              </a:lnSpc>
              <a:buNone/>
            </a:pPr>
            <a:r>
              <a:rPr lang="en-US" sz="1650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 / 14 / 30 dias, médias e comparações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646640" y="2607915"/>
            <a:ext cx="2994571" cy="2540050"/>
          </a:xfrm>
          <a:prstGeom prst="roundRect">
            <a:avLst>
              <a:gd name="adj" fmla="val 9750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99065" y="2960340"/>
            <a:ext cx="251869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ABA 03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999065" y="3312765"/>
            <a:ext cx="251869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Padrões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7999065" y="3884265"/>
            <a:ext cx="2365921" cy="949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33"/>
              </a:lnSpc>
              <a:buNone/>
            </a:pPr>
            <a:r>
              <a:rPr lang="en-US" sz="1650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Padrões observados, dia da semana, refeições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850761" y="2607915"/>
            <a:ext cx="2994720" cy="2540050"/>
          </a:xfrm>
          <a:prstGeom prst="roundRect">
            <a:avLst>
              <a:gd name="adj" fmla="val 9750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03186" y="2960340"/>
            <a:ext cx="251885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ABA 04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203186" y="3312765"/>
            <a:ext cx="251885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Consistência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1203186" y="3884265"/>
            <a:ext cx="2366070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33"/>
              </a:lnSpc>
              <a:buNone/>
            </a:pPr>
            <a:r>
              <a:rPr lang="en-US" sz="1650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Calendário, sequências, lacunas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4055030" y="2607915"/>
            <a:ext cx="2994720" cy="2540050"/>
          </a:xfrm>
          <a:prstGeom prst="roundRect">
            <a:avLst>
              <a:gd name="adj" fmla="val 9750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407455" y="2960340"/>
            <a:ext cx="251885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ABA 05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4407455" y="3312765"/>
            <a:ext cx="2518856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Peso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4407455" y="3884265"/>
            <a:ext cx="2366070" cy="645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33"/>
              </a:lnSpc>
              <a:buNone/>
            </a:pPr>
            <a:r>
              <a:rPr lang="en-US" sz="1650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Peso, média móvel, calorias alinhadas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238250" y="5643265"/>
            <a:ext cx="5130701" cy="1400175"/>
          </a:xfrm>
          <a:prstGeom prst="roundRect">
            <a:avLst>
              <a:gd name="adj" fmla="val 17687"/>
            </a:avLst>
          </a:prstGeom>
          <a:ln w="9525">
            <a:solidFill>
              <a:srgbClr val="FFFFFF">
                <a:alpha val="16000"/>
              </a:srgbClr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571625" y="5976640"/>
            <a:ext cx="491034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AVATAR NO TOPO ↗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571625" y="6319540"/>
            <a:ext cx="491034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Metas e conta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6578501" y="5643265"/>
            <a:ext cx="5130850" cy="1400175"/>
          </a:xfrm>
          <a:prstGeom prst="roundRect">
            <a:avLst>
              <a:gd name="adj" fmla="val 17687"/>
            </a:avLst>
          </a:prstGeom>
          <a:ln w="9525">
            <a:solidFill>
              <a:srgbClr val="FFFFFF">
                <a:alpha val="16000"/>
              </a:srgbClr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911876" y="5976640"/>
            <a:ext cx="49105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DENTRO DE PADRÕES ↗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911876" y="6319540"/>
            <a:ext cx="491051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Alimentos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1918900" y="5643265"/>
            <a:ext cx="5130850" cy="1400175"/>
          </a:xfrm>
          <a:prstGeom prst="roundRect">
            <a:avLst>
              <a:gd name="adj" fmla="val 17687"/>
            </a:avLst>
          </a:prstGeom>
          <a:ln w="9525">
            <a:solidFill>
              <a:srgbClr val="FFFFFF">
                <a:alpha val="16000"/>
              </a:srgbClr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2252275" y="5976640"/>
            <a:ext cx="49105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SOBRE QUALQUER INSIGHT ↗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2252275" y="6319540"/>
            <a:ext cx="491051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Explicação metodológica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52500"/>
            <a:ext cx="27912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DESIGN SYSTEM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8250" y="1400175"/>
            <a:ext cx="2791271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04"/>
              </a:lnSpc>
              <a:buNone/>
            </a:pPr>
            <a:r>
              <a:rPr lang="en-US" sz="5100" b="1" spc="-153" kern="0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Paleta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0770870" y="1426815"/>
            <a:ext cx="627888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 nunca é o único canal: todo estado carrega rótulo, percentual e forma.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38250" y="2569815"/>
            <a:ext cx="2460575" cy="2558802"/>
          </a:xfrm>
          <a:prstGeom prst="roundRect">
            <a:avLst>
              <a:gd name="adj" fmla="val 8516"/>
            </a:avLst>
          </a:prstGeom>
          <a:solidFill>
            <a:srgbClr val="131B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8250" y="2569815"/>
            <a:ext cx="2460575" cy="1152525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7" name="Shape 5"/>
          <p:cNvSpPr/>
          <p:nvPr/>
        </p:nvSpPr>
        <p:spPr>
          <a:xfrm>
            <a:off x="1238250" y="3712815"/>
            <a:ext cx="246057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3931890"/>
            <a:ext cx="22456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47800" y="4322415"/>
            <a:ext cx="22456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#0A0F1A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47800" y="4674840"/>
            <a:ext cx="2245623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654"/>
              </a:lnSpc>
              <a:buNone/>
            </a:pPr>
            <a:r>
              <a:rPr lang="en-US" sz="1425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Fundo principal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3908375" y="2569815"/>
            <a:ext cx="2460575" cy="2558802"/>
          </a:xfrm>
          <a:prstGeom prst="roundRect">
            <a:avLst>
              <a:gd name="adj" fmla="val 8516"/>
            </a:avLst>
          </a:prstGeom>
          <a:solidFill>
            <a:srgbClr val="131B2B"/>
          </a:solidFill>
          <a:ln/>
        </p:spPr>
      </p:sp>
      <p:sp>
        <p:nvSpPr>
          <p:cNvPr id="12" name="Shape 10"/>
          <p:cNvSpPr/>
          <p:nvPr/>
        </p:nvSpPr>
        <p:spPr>
          <a:xfrm>
            <a:off x="3908375" y="2569815"/>
            <a:ext cx="2460575" cy="1152525"/>
          </a:xfrm>
          <a:prstGeom prst="rect">
            <a:avLst/>
          </a:prstGeom>
          <a:solidFill>
            <a:srgbClr val="131B2B"/>
          </a:solidFill>
          <a:ln/>
        </p:spPr>
      </p:sp>
      <p:sp>
        <p:nvSpPr>
          <p:cNvPr id="13" name="Shape 11"/>
          <p:cNvSpPr/>
          <p:nvPr/>
        </p:nvSpPr>
        <p:spPr>
          <a:xfrm>
            <a:off x="3908375" y="3712815"/>
            <a:ext cx="2460575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117925" y="3931890"/>
            <a:ext cx="22456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Superfície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17925" y="4322415"/>
            <a:ext cx="22456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#131B2B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7925" y="4674840"/>
            <a:ext cx="2245623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654"/>
              </a:lnSpc>
              <a:buNone/>
            </a:pPr>
            <a:r>
              <a:rPr lang="en-US" sz="1425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Cartões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6578501" y="2569815"/>
            <a:ext cx="2460724" cy="2558802"/>
          </a:xfrm>
          <a:prstGeom prst="roundRect">
            <a:avLst>
              <a:gd name="adj" fmla="val 8516"/>
            </a:avLst>
          </a:prstGeom>
          <a:solidFill>
            <a:srgbClr val="131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578501" y="2569815"/>
            <a:ext cx="2460724" cy="1152525"/>
          </a:xfrm>
          <a:prstGeom prst="rect">
            <a:avLst/>
          </a:prstGeom>
          <a:solidFill>
            <a:srgbClr val="1B2539"/>
          </a:solidFill>
          <a:ln/>
        </p:spPr>
      </p:sp>
      <p:sp>
        <p:nvSpPr>
          <p:cNvPr id="19" name="Shape 17"/>
          <p:cNvSpPr/>
          <p:nvPr/>
        </p:nvSpPr>
        <p:spPr>
          <a:xfrm>
            <a:off x="6578501" y="3712815"/>
            <a:ext cx="2460724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788051" y="3931890"/>
            <a:ext cx="224578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Superfície 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88051" y="4322415"/>
            <a:ext cx="22457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#1B2539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88051" y="4674840"/>
            <a:ext cx="2245787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654"/>
              </a:lnSpc>
              <a:buNone/>
            </a:pPr>
            <a:r>
              <a:rPr lang="en-US" sz="1425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Blocos internos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9248775" y="2569815"/>
            <a:ext cx="2460575" cy="2558802"/>
          </a:xfrm>
          <a:prstGeom prst="roundRect">
            <a:avLst>
              <a:gd name="adj" fmla="val 8516"/>
            </a:avLst>
          </a:prstGeom>
          <a:solidFill>
            <a:srgbClr val="131B2B"/>
          </a:solidFill>
          <a:ln/>
        </p:spPr>
      </p:sp>
      <p:sp>
        <p:nvSpPr>
          <p:cNvPr id="24" name="Shape 22"/>
          <p:cNvSpPr/>
          <p:nvPr/>
        </p:nvSpPr>
        <p:spPr>
          <a:xfrm>
            <a:off x="9248775" y="2569815"/>
            <a:ext cx="2460575" cy="1143000"/>
          </a:xfrm>
          <a:prstGeom prst="rect">
            <a:avLst/>
          </a:prstGeom>
          <a:solidFill>
            <a:srgbClr val="84E0A8"/>
          </a:solidFill>
          <a:ln/>
        </p:spPr>
      </p:sp>
      <p:sp>
        <p:nvSpPr>
          <p:cNvPr id="25" name="Text 23"/>
          <p:cNvSpPr/>
          <p:nvPr/>
        </p:nvSpPr>
        <p:spPr>
          <a:xfrm>
            <a:off x="9458325" y="3922365"/>
            <a:ext cx="22456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Mint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458325" y="4312890"/>
            <a:ext cx="22456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#84E0A8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458325" y="4665315"/>
            <a:ext cx="2245623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654"/>
              </a:lnSpc>
              <a:buNone/>
            </a:pPr>
            <a:r>
              <a:rPr lang="en-US" sz="1425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Dentro da meta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11918900" y="2569815"/>
            <a:ext cx="2460575" cy="2558802"/>
          </a:xfrm>
          <a:prstGeom prst="roundRect">
            <a:avLst>
              <a:gd name="adj" fmla="val 8516"/>
            </a:avLst>
          </a:prstGeom>
          <a:solidFill>
            <a:srgbClr val="131B2B"/>
          </a:solidFill>
          <a:ln/>
        </p:spPr>
      </p:sp>
      <p:sp>
        <p:nvSpPr>
          <p:cNvPr id="29" name="Shape 27"/>
          <p:cNvSpPr/>
          <p:nvPr/>
        </p:nvSpPr>
        <p:spPr>
          <a:xfrm>
            <a:off x="11918900" y="2569815"/>
            <a:ext cx="2460575" cy="1143000"/>
          </a:xfrm>
          <a:prstGeom prst="rect">
            <a:avLst/>
          </a:prstGeom>
          <a:solidFill>
            <a:srgbClr val="5FC8E8"/>
          </a:solidFill>
          <a:ln/>
        </p:spPr>
      </p:sp>
      <p:sp>
        <p:nvSpPr>
          <p:cNvPr id="30" name="Text 28"/>
          <p:cNvSpPr/>
          <p:nvPr/>
        </p:nvSpPr>
        <p:spPr>
          <a:xfrm>
            <a:off x="12128450" y="3922365"/>
            <a:ext cx="22456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Ciano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128450" y="4312890"/>
            <a:ext cx="22456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#5FC8E8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128450" y="4665315"/>
            <a:ext cx="2245623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654"/>
              </a:lnSpc>
              <a:buNone/>
            </a:pPr>
            <a:r>
              <a:rPr lang="en-US" sz="1425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Série histórica</a:t>
            </a:r>
            <a:endParaRPr lang="en-US" sz="1425" dirty="0"/>
          </a:p>
        </p:txBody>
      </p:sp>
      <p:sp>
        <p:nvSpPr>
          <p:cNvPr id="33" name="Shape 31"/>
          <p:cNvSpPr/>
          <p:nvPr/>
        </p:nvSpPr>
        <p:spPr>
          <a:xfrm>
            <a:off x="14589026" y="2569815"/>
            <a:ext cx="2460724" cy="2558802"/>
          </a:xfrm>
          <a:prstGeom prst="roundRect">
            <a:avLst>
              <a:gd name="adj" fmla="val 8516"/>
            </a:avLst>
          </a:prstGeom>
          <a:solidFill>
            <a:srgbClr val="131B2B"/>
          </a:solidFill>
          <a:ln/>
        </p:spPr>
      </p:sp>
      <p:sp>
        <p:nvSpPr>
          <p:cNvPr id="34" name="Shape 32"/>
          <p:cNvSpPr/>
          <p:nvPr/>
        </p:nvSpPr>
        <p:spPr>
          <a:xfrm>
            <a:off x="14589026" y="2569815"/>
            <a:ext cx="2460724" cy="1143000"/>
          </a:xfrm>
          <a:prstGeom prst="rect">
            <a:avLst/>
          </a:prstGeom>
          <a:solidFill>
            <a:srgbClr val="E5B15C"/>
          </a:solidFill>
          <a:ln/>
        </p:spPr>
      </p:sp>
      <p:sp>
        <p:nvSpPr>
          <p:cNvPr id="35" name="Text 33"/>
          <p:cNvSpPr/>
          <p:nvPr/>
        </p:nvSpPr>
        <p:spPr>
          <a:xfrm>
            <a:off x="14798576" y="3922365"/>
            <a:ext cx="224578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Âmbar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4798576" y="4312890"/>
            <a:ext cx="22457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#E5B15C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4798576" y="4665315"/>
            <a:ext cx="2245787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654"/>
              </a:lnSpc>
              <a:buNone/>
            </a:pPr>
            <a:r>
              <a:rPr lang="en-US" sz="1425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Atenção</a:t>
            </a:r>
            <a:endParaRPr lang="en-US" sz="1425" dirty="0"/>
          </a:p>
        </p:txBody>
      </p:sp>
      <p:sp>
        <p:nvSpPr>
          <p:cNvPr id="38" name="Shape 36"/>
          <p:cNvSpPr/>
          <p:nvPr/>
        </p:nvSpPr>
        <p:spPr>
          <a:xfrm>
            <a:off x="1238250" y="5338167"/>
            <a:ext cx="2460575" cy="2549277"/>
          </a:xfrm>
          <a:prstGeom prst="roundRect">
            <a:avLst>
              <a:gd name="adj" fmla="val 8516"/>
            </a:avLst>
          </a:prstGeom>
          <a:solidFill>
            <a:srgbClr val="131B2B"/>
          </a:solidFill>
          <a:ln/>
        </p:spPr>
      </p:sp>
      <p:sp>
        <p:nvSpPr>
          <p:cNvPr id="39" name="Shape 37"/>
          <p:cNvSpPr/>
          <p:nvPr/>
        </p:nvSpPr>
        <p:spPr>
          <a:xfrm>
            <a:off x="1238250" y="5338167"/>
            <a:ext cx="2460575" cy="1143000"/>
          </a:xfrm>
          <a:prstGeom prst="rect">
            <a:avLst/>
          </a:prstGeom>
          <a:solidFill>
            <a:srgbClr val="F0806F"/>
          </a:solidFill>
          <a:ln/>
        </p:spPr>
      </p:sp>
      <p:sp>
        <p:nvSpPr>
          <p:cNvPr id="40" name="Text 38"/>
          <p:cNvSpPr/>
          <p:nvPr/>
        </p:nvSpPr>
        <p:spPr>
          <a:xfrm>
            <a:off x="1447800" y="6690717"/>
            <a:ext cx="22456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Coral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447800" y="7081242"/>
            <a:ext cx="22456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#F0806F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447800" y="7433667"/>
            <a:ext cx="2245623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654"/>
              </a:lnSpc>
              <a:buNone/>
            </a:pPr>
            <a:r>
              <a:rPr lang="en-US" sz="1425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Acima da meta</a:t>
            </a:r>
            <a:endParaRPr lang="en-US" sz="1425" dirty="0"/>
          </a:p>
        </p:txBody>
      </p:sp>
      <p:sp>
        <p:nvSpPr>
          <p:cNvPr id="43" name="Shape 41"/>
          <p:cNvSpPr/>
          <p:nvPr/>
        </p:nvSpPr>
        <p:spPr>
          <a:xfrm>
            <a:off x="3908375" y="5338167"/>
            <a:ext cx="2460575" cy="2549277"/>
          </a:xfrm>
          <a:prstGeom prst="roundRect">
            <a:avLst>
              <a:gd name="adj" fmla="val 8516"/>
            </a:avLst>
          </a:prstGeom>
          <a:solidFill>
            <a:srgbClr val="131B2B"/>
          </a:solidFill>
          <a:ln/>
        </p:spPr>
      </p:sp>
      <p:sp>
        <p:nvSpPr>
          <p:cNvPr id="44" name="Shape 42"/>
          <p:cNvSpPr/>
          <p:nvPr/>
        </p:nvSpPr>
        <p:spPr>
          <a:xfrm>
            <a:off x="3908375" y="5338167"/>
            <a:ext cx="2460575" cy="1143000"/>
          </a:xfrm>
          <a:prstGeom prst="rect">
            <a:avLst/>
          </a:prstGeom>
          <a:solidFill>
            <a:srgbClr val="9E9BF0"/>
          </a:solidFill>
          <a:ln/>
        </p:spPr>
      </p:sp>
      <p:sp>
        <p:nvSpPr>
          <p:cNvPr id="45" name="Text 43"/>
          <p:cNvSpPr/>
          <p:nvPr/>
        </p:nvSpPr>
        <p:spPr>
          <a:xfrm>
            <a:off x="4117925" y="6690717"/>
            <a:ext cx="22456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Violeta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117925" y="7081242"/>
            <a:ext cx="22456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#9E9BF0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117925" y="7433667"/>
            <a:ext cx="2245623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654"/>
              </a:lnSpc>
              <a:buNone/>
            </a:pPr>
            <a:r>
              <a:rPr lang="en-US" sz="1425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4ª série</a:t>
            </a:r>
            <a:endParaRPr lang="en-US" sz="1425" dirty="0"/>
          </a:p>
        </p:txBody>
      </p:sp>
      <p:sp>
        <p:nvSpPr>
          <p:cNvPr id="48" name="Shape 46"/>
          <p:cNvSpPr/>
          <p:nvPr/>
        </p:nvSpPr>
        <p:spPr>
          <a:xfrm>
            <a:off x="6578501" y="5338167"/>
            <a:ext cx="2460724" cy="2549277"/>
          </a:xfrm>
          <a:prstGeom prst="roundRect">
            <a:avLst>
              <a:gd name="adj" fmla="val 8516"/>
            </a:avLst>
          </a:prstGeom>
          <a:solidFill>
            <a:srgbClr val="131B2B"/>
          </a:solidFill>
          <a:ln/>
        </p:spPr>
      </p:sp>
      <p:sp>
        <p:nvSpPr>
          <p:cNvPr id="49" name="Shape 47"/>
          <p:cNvSpPr/>
          <p:nvPr/>
        </p:nvSpPr>
        <p:spPr>
          <a:xfrm>
            <a:off x="6578501" y="5338167"/>
            <a:ext cx="2460724" cy="1143000"/>
          </a:xfrm>
          <a:prstGeom prst="rect">
            <a:avLst/>
          </a:prstGeom>
          <a:solidFill>
            <a:srgbClr val="E9EFF8"/>
          </a:solidFill>
          <a:ln/>
        </p:spPr>
      </p:sp>
      <p:sp>
        <p:nvSpPr>
          <p:cNvPr id="50" name="Text 48"/>
          <p:cNvSpPr/>
          <p:nvPr/>
        </p:nvSpPr>
        <p:spPr>
          <a:xfrm>
            <a:off x="6788051" y="6690717"/>
            <a:ext cx="224578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Texto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788051" y="7081242"/>
            <a:ext cx="22457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#E9EFF8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788051" y="7433667"/>
            <a:ext cx="2245787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654"/>
              </a:lnSpc>
              <a:buNone/>
            </a:pPr>
            <a:r>
              <a:rPr lang="en-US" sz="1425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Primário</a:t>
            </a:r>
            <a:endParaRPr lang="en-US" sz="1425" dirty="0"/>
          </a:p>
        </p:txBody>
      </p:sp>
      <p:sp>
        <p:nvSpPr>
          <p:cNvPr id="53" name="Shape 51"/>
          <p:cNvSpPr/>
          <p:nvPr/>
        </p:nvSpPr>
        <p:spPr>
          <a:xfrm>
            <a:off x="9248775" y="5338167"/>
            <a:ext cx="2460575" cy="2549277"/>
          </a:xfrm>
          <a:prstGeom prst="roundRect">
            <a:avLst>
              <a:gd name="adj" fmla="val 8516"/>
            </a:avLst>
          </a:prstGeom>
          <a:solidFill>
            <a:srgbClr val="131B2B"/>
          </a:solidFill>
          <a:ln/>
        </p:spPr>
      </p:sp>
      <p:sp>
        <p:nvSpPr>
          <p:cNvPr id="54" name="Shape 52"/>
          <p:cNvSpPr/>
          <p:nvPr/>
        </p:nvSpPr>
        <p:spPr>
          <a:xfrm>
            <a:off x="9248775" y="5338167"/>
            <a:ext cx="2460575" cy="1143000"/>
          </a:xfrm>
          <a:prstGeom prst="rect">
            <a:avLst/>
          </a:prstGeom>
          <a:solidFill>
            <a:srgbClr val="93A3BD"/>
          </a:solidFill>
          <a:ln/>
        </p:spPr>
      </p:sp>
      <p:sp>
        <p:nvSpPr>
          <p:cNvPr id="55" name="Text 53"/>
          <p:cNvSpPr/>
          <p:nvPr/>
        </p:nvSpPr>
        <p:spPr>
          <a:xfrm>
            <a:off x="9458325" y="6690717"/>
            <a:ext cx="22456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Texto 2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9458325" y="7081242"/>
            <a:ext cx="22456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#93A3BD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9458325" y="7433667"/>
            <a:ext cx="2245623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654"/>
              </a:lnSpc>
              <a:buNone/>
            </a:pPr>
            <a:r>
              <a:rPr lang="en-US" sz="1425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Secundário</a:t>
            </a:r>
            <a:endParaRPr lang="en-US" sz="1425" dirty="0"/>
          </a:p>
        </p:txBody>
      </p:sp>
      <p:sp>
        <p:nvSpPr>
          <p:cNvPr id="58" name="Shape 56"/>
          <p:cNvSpPr/>
          <p:nvPr/>
        </p:nvSpPr>
        <p:spPr>
          <a:xfrm>
            <a:off x="11918900" y="5338167"/>
            <a:ext cx="2460575" cy="2549277"/>
          </a:xfrm>
          <a:prstGeom prst="roundRect">
            <a:avLst>
              <a:gd name="adj" fmla="val 8516"/>
            </a:avLst>
          </a:prstGeom>
          <a:solidFill>
            <a:srgbClr val="131B2B"/>
          </a:solidFill>
          <a:ln/>
        </p:spPr>
      </p:sp>
      <p:sp>
        <p:nvSpPr>
          <p:cNvPr id="59" name="Shape 57"/>
          <p:cNvSpPr/>
          <p:nvPr/>
        </p:nvSpPr>
        <p:spPr>
          <a:xfrm>
            <a:off x="11918900" y="5338167"/>
            <a:ext cx="2460575" cy="1143000"/>
          </a:xfrm>
          <a:prstGeom prst="rect">
            <a:avLst/>
          </a:prstGeom>
          <a:solidFill>
            <a:srgbClr val="64748F"/>
          </a:solidFill>
          <a:ln/>
        </p:spPr>
      </p:sp>
      <p:sp>
        <p:nvSpPr>
          <p:cNvPr id="60" name="Text 58"/>
          <p:cNvSpPr/>
          <p:nvPr/>
        </p:nvSpPr>
        <p:spPr>
          <a:xfrm>
            <a:off x="12128450" y="6690717"/>
            <a:ext cx="224562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Texto 3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2128450" y="7081242"/>
            <a:ext cx="224562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#64748F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12128450" y="7433667"/>
            <a:ext cx="2245623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654"/>
              </a:lnSpc>
              <a:buNone/>
            </a:pPr>
            <a:r>
              <a:rPr lang="en-US" sz="1425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Metadados</a:t>
            </a:r>
            <a:endParaRPr lang="en-US" sz="1425" dirty="0"/>
          </a:p>
        </p:txBody>
      </p:sp>
      <p:sp>
        <p:nvSpPr>
          <p:cNvPr id="63" name="Shape 61"/>
          <p:cNvSpPr/>
          <p:nvPr/>
        </p:nvSpPr>
        <p:spPr>
          <a:xfrm>
            <a:off x="14589026" y="5338167"/>
            <a:ext cx="2460724" cy="2549277"/>
          </a:xfrm>
          <a:prstGeom prst="roundRect">
            <a:avLst>
              <a:gd name="adj" fmla="val 8516"/>
            </a:avLst>
          </a:prstGeom>
          <a:solidFill>
            <a:srgbClr val="131B2B"/>
          </a:solidFill>
          <a:ln/>
        </p:spPr>
      </p:sp>
      <p:sp>
        <p:nvSpPr>
          <p:cNvPr id="64" name="Shape 62"/>
          <p:cNvSpPr/>
          <p:nvPr/>
        </p:nvSpPr>
        <p:spPr>
          <a:xfrm>
            <a:off x="14589026" y="5338167"/>
            <a:ext cx="2460724" cy="11430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65" name="Text 63"/>
          <p:cNvSpPr/>
          <p:nvPr/>
        </p:nvSpPr>
        <p:spPr>
          <a:xfrm>
            <a:off x="14798576" y="6690717"/>
            <a:ext cx="224578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Claro · base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4798576" y="7081242"/>
            <a:ext cx="22457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#F4F7FB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14798576" y="7433667"/>
            <a:ext cx="2245787" cy="282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654"/>
              </a:lnSpc>
              <a:buNone/>
            </a:pPr>
            <a:r>
              <a:rPr lang="en-US" sz="1425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Modo claro</a:t>
            </a:r>
            <a:endParaRPr lang="en-US" sz="14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52500"/>
            <a:ext cx="898871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DESIGN SYSTEM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8250" y="1400175"/>
            <a:ext cx="8988713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04"/>
              </a:lnSpc>
              <a:buNone/>
            </a:pPr>
            <a:r>
              <a:rPr lang="en-US" sz="5100" b="1" spc="-153" kern="0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Tipografia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238250" y="3598515"/>
            <a:ext cx="8171557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531715"/>
            <a:ext cx="231209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043"/>
              </a:lnSpc>
              <a:buNone/>
            </a:pPr>
            <a:r>
              <a:rPr lang="en-US" sz="6300" b="1" spc="-220" kern="0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1.620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3644950" y="3036540"/>
            <a:ext cx="389763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MANROPE 800 · MÉTRICA PRINCIPAL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38250" y="4712940"/>
            <a:ext cx="8171557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3893790"/>
            <a:ext cx="2712199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Título de tela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4008686" y="4122390"/>
            <a:ext cx="37719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MANROPE 800 · 19px NO APARELHO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238250" y="5694015"/>
            <a:ext cx="8171557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5008215"/>
            <a:ext cx="255896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Título de cartão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869382" y="5132040"/>
            <a:ext cx="25146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MANROPE 700 · 13,5px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238250" y="6617940"/>
            <a:ext cx="8171557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238250" y="5989290"/>
            <a:ext cx="316011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Corpo e rótulo de linha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415879" y="6075015"/>
            <a:ext cx="25146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MANROPE 600 · 12,5px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8250" y="6913215"/>
            <a:ext cx="392284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3A3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JANELA · AMOSTRA · UNIDADE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09270" y="6951315"/>
            <a:ext cx="28917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IBM PLEX MONO · 10–11px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076557" y="2381250"/>
            <a:ext cx="6973193" cy="5950744"/>
          </a:xfrm>
          <a:prstGeom prst="roundRect">
            <a:avLst>
              <a:gd name="adj" fmla="val 4482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43282" y="2847975"/>
            <a:ext cx="664371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Regras de número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0543282" y="3562350"/>
            <a:ext cx="6220935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7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 valor usa </a:t>
            </a:r>
            <a:pPr algn="l" indent="0" marL="0">
              <a:lnSpc>
                <a:spcPct val="110714"/>
              </a:lnSpc>
              <a:buNone/>
            </a:pPr>
            <a:r>
              <a:rPr lang="en-US" sz="1875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tabular-nums </a:t>
            </a:r>
            <a:pPr algn="l" indent="0" marL="0">
              <a:lnSpc>
                <a:spcPct val="110714"/>
              </a:lnSpc>
              <a:buNone/>
            </a:pPr>
            <a:r>
              <a:rPr lang="en-US" sz="187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então colunas de comparação alinham dígito a dígito.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0543282" y="4624388"/>
            <a:ext cx="6220935" cy="1145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7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Metadado em monoespaçada cria uma camada visual separada: o dado principal nunca compete com sua procedência.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0543282" y="6055519"/>
            <a:ext cx="6039743" cy="1809750"/>
          </a:xfrm>
          <a:prstGeom prst="roundRect">
            <a:avLst>
              <a:gd name="adj" fmla="val 9474"/>
            </a:avLst>
          </a:prstGeom>
          <a:solidFill>
            <a:srgbClr val="1B2539"/>
          </a:solidFill>
          <a:ln/>
        </p:spPr>
      </p:sp>
      <p:sp>
        <p:nvSpPr>
          <p:cNvPr id="23" name="Text 21"/>
          <p:cNvSpPr/>
          <p:nvPr/>
        </p:nvSpPr>
        <p:spPr>
          <a:xfrm>
            <a:off x="10809982" y="6322219"/>
            <a:ext cx="60569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MÉDIA DIÁRIA DE CALORIAS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0809982" y="6665119"/>
            <a:ext cx="6056977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171"/>
              </a:lnSpc>
              <a:buNone/>
            </a:pPr>
            <a:r>
              <a:rPr lang="en-US" sz="450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1.840</a:t>
            </a:r>
            <a:endParaRPr lang="en-US" sz="4500" dirty="0"/>
          </a:p>
        </p:txBody>
      </p:sp>
      <p:sp>
        <p:nvSpPr>
          <p:cNvPr id="25" name="Text 23"/>
          <p:cNvSpPr/>
          <p:nvPr/>
        </p:nvSpPr>
        <p:spPr>
          <a:xfrm>
            <a:off x="10809982" y="7369969"/>
            <a:ext cx="605697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 DIAS REGISTRADOS · 30 DIAS DE JANELA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8250" y="1013776"/>
            <a:ext cx="4563618" cy="8259449"/>
          </a:xfrm>
          <a:prstGeom prst="roundRect">
            <a:avLst>
              <a:gd name="adj" fmla="val 8962"/>
            </a:avLst>
          </a:prstGeom>
          <a:solidFill>
            <a:srgbClr val="0A0F1A"/>
          </a:solidFill>
          <a:ln w="10763">
            <a:solidFill>
              <a:srgbClr val="FFFFFF">
                <a:alpha val="13000"/>
              </a:srgbClr>
            </a:solidFill>
            <a:prstDash val="solid"/>
          </a:ln>
          <a:effectLst>
            <a:outerShdw sx="100000" sy="100000" kx="0" ky="0" algn="bl" rotWithShape="0" blurRad="857250" dist="285750" dir="5400000">
              <a:srgbClr val="000000">
                <a:alpha val="5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464278" y="1239804"/>
            <a:ext cx="3907060" cy="317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10" b="1" spc="-32" kern="0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Boa tarde, Rafael</a:t>
            </a:r>
            <a:endParaRPr lang="en-US" sz="1610" dirty="0"/>
          </a:p>
        </p:txBody>
      </p:sp>
      <p:sp>
        <p:nvSpPr>
          <p:cNvPr id="4" name="Text 2"/>
          <p:cNvSpPr/>
          <p:nvPr/>
        </p:nvSpPr>
        <p:spPr>
          <a:xfrm>
            <a:off x="1464278" y="1551938"/>
            <a:ext cx="3907060" cy="22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7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Sábado, 25 de julho</a:t>
            </a:r>
            <a:endParaRPr lang="en-US" sz="1017" dirty="0"/>
          </a:p>
        </p:txBody>
      </p:sp>
      <p:sp>
        <p:nvSpPr>
          <p:cNvPr id="5" name="Shape 3"/>
          <p:cNvSpPr/>
          <p:nvPr/>
        </p:nvSpPr>
        <p:spPr>
          <a:xfrm>
            <a:off x="5145310" y="1272094"/>
            <a:ext cx="430530" cy="430530"/>
          </a:xfrm>
          <a:prstGeom prst="roundRect">
            <a:avLst>
              <a:gd name="adj" fmla="val 35000"/>
            </a:avLst>
          </a:prstGeom>
          <a:solidFill>
            <a:srgbClr val="1B2539"/>
          </a:solidFill>
          <a:ln w="1076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17973" y="1282857"/>
            <a:ext cx="485204" cy="4471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02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RS</a:t>
            </a:r>
            <a:endParaRPr lang="en-US" sz="1102" dirty="0"/>
          </a:p>
        </p:txBody>
      </p:sp>
      <p:sp>
        <p:nvSpPr>
          <p:cNvPr id="7" name="Shape 5"/>
          <p:cNvSpPr/>
          <p:nvPr/>
        </p:nvSpPr>
        <p:spPr>
          <a:xfrm>
            <a:off x="1421225" y="1864072"/>
            <a:ext cx="4197668" cy="376714"/>
          </a:xfrm>
          <a:prstGeom prst="roundRect">
            <a:avLst>
              <a:gd name="adj" fmla="val 34286"/>
            </a:avLst>
          </a:prstGeom>
          <a:solidFill>
            <a:srgbClr val="84E0A8">
              <a:alpha val="14000"/>
            </a:srgbClr>
          </a:solidFill>
          <a:ln w="1076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61147" y="2014758"/>
            <a:ext cx="75343" cy="75343"/>
          </a:xfrm>
          <a:prstGeom prst="ellipse">
            <a:avLst/>
          </a:prstGeom>
          <a:solidFill>
            <a:srgbClr val="84E0A8"/>
          </a:solidFill>
          <a:ln/>
        </p:spPr>
      </p:sp>
      <p:sp>
        <p:nvSpPr>
          <p:cNvPr id="9" name="Text 7"/>
          <p:cNvSpPr/>
          <p:nvPr/>
        </p:nvSpPr>
        <p:spPr>
          <a:xfrm>
            <a:off x="1722596" y="1971705"/>
            <a:ext cx="848631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4E0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Sincronizado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839566" y="1977087"/>
            <a:ext cx="715604" cy="188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2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há 12 min</a:t>
            </a:r>
            <a:endParaRPr lang="en-US" sz="932" dirty="0"/>
          </a:p>
        </p:txBody>
      </p:sp>
      <p:sp>
        <p:nvSpPr>
          <p:cNvPr id="11" name="Shape 9"/>
          <p:cNvSpPr/>
          <p:nvPr/>
        </p:nvSpPr>
        <p:spPr>
          <a:xfrm>
            <a:off x="1421225" y="2369945"/>
            <a:ext cx="4197668" cy="1657540"/>
          </a:xfrm>
          <a:prstGeom prst="roundRect">
            <a:avLst>
              <a:gd name="adj" fmla="val 14286"/>
            </a:avLst>
          </a:prstGeom>
          <a:solidFill>
            <a:srgbClr val="131B2B"/>
          </a:solidFill>
          <a:ln w="10763">
            <a:solidFill>
              <a:srgbClr val="FFFFFF">
                <a:alpha val="700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-5400000">
            <a:off x="1625727" y="2595974"/>
            <a:ext cx="1205484" cy="12054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857305" y="2972687"/>
            <a:ext cx="818360" cy="317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222"/>
              </a:lnSpc>
              <a:buNone/>
            </a:pPr>
            <a:r>
              <a:rPr lang="en-US" sz="2203" b="1" spc="-66" kern="0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1.620</a:t>
            </a:r>
            <a:endParaRPr lang="en-US" sz="2203" dirty="0"/>
          </a:p>
        </p:txBody>
      </p:sp>
      <p:sp>
        <p:nvSpPr>
          <p:cNvPr id="14" name="Text 11"/>
          <p:cNvSpPr/>
          <p:nvPr/>
        </p:nvSpPr>
        <p:spPr>
          <a:xfrm>
            <a:off x="1970151" y="3284821"/>
            <a:ext cx="592836" cy="17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 2.000</a:t>
            </a:r>
            <a:endParaRPr lang="en-US" sz="848" dirty="0"/>
          </a:p>
        </p:txBody>
      </p:sp>
      <p:sp>
        <p:nvSpPr>
          <p:cNvPr id="15" name="Text 12"/>
          <p:cNvSpPr/>
          <p:nvPr/>
        </p:nvSpPr>
        <p:spPr>
          <a:xfrm>
            <a:off x="3046476" y="2795093"/>
            <a:ext cx="2604707" cy="18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2" b="1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RESTANTE NA META</a:t>
            </a:r>
            <a:endParaRPr lang="en-US" sz="932" dirty="0"/>
          </a:p>
        </p:txBody>
      </p:sp>
      <p:sp>
        <p:nvSpPr>
          <p:cNvPr id="16" name="Text 13"/>
          <p:cNvSpPr/>
          <p:nvPr/>
        </p:nvSpPr>
        <p:spPr>
          <a:xfrm>
            <a:off x="3046476" y="3010359"/>
            <a:ext cx="2604707" cy="40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3913"/>
              </a:lnSpc>
              <a:buNone/>
            </a:pPr>
            <a:r>
              <a:rPr lang="en-US" sz="2882" b="1" dirty="0">
                <a:solidFill>
                  <a:srgbClr val="84E0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380</a:t>
            </a:r>
            <a:endParaRPr lang="en-US" sz="2882" dirty="0"/>
          </a:p>
        </p:txBody>
      </p:sp>
      <p:sp>
        <p:nvSpPr>
          <p:cNvPr id="17" name="Text 14"/>
          <p:cNvSpPr/>
          <p:nvPr/>
        </p:nvSpPr>
        <p:spPr>
          <a:xfrm>
            <a:off x="3046476" y="3419362"/>
            <a:ext cx="2604707" cy="22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7" b="1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kcal disponíveis</a:t>
            </a:r>
            <a:endParaRPr lang="en-US" sz="1017" dirty="0"/>
          </a:p>
        </p:txBody>
      </p:sp>
      <p:sp>
        <p:nvSpPr>
          <p:cNvPr id="18" name="Shape 15"/>
          <p:cNvSpPr/>
          <p:nvPr/>
        </p:nvSpPr>
        <p:spPr>
          <a:xfrm>
            <a:off x="1421225" y="4156645"/>
            <a:ext cx="4197668" cy="2120361"/>
          </a:xfrm>
          <a:prstGeom prst="roundRect">
            <a:avLst>
              <a:gd name="adj" fmla="val 11168"/>
            </a:avLst>
          </a:prstGeom>
          <a:solidFill>
            <a:srgbClr val="131B2B"/>
          </a:solidFill>
          <a:ln w="1076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25727" y="4361146"/>
            <a:ext cx="1258812" cy="231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44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Macronutrientes</a:t>
            </a:r>
            <a:endParaRPr lang="en-US" sz="1144" dirty="0"/>
          </a:p>
        </p:txBody>
      </p:sp>
      <p:sp>
        <p:nvSpPr>
          <p:cNvPr id="20" name="Text 17"/>
          <p:cNvSpPr/>
          <p:nvPr/>
        </p:nvSpPr>
        <p:spPr>
          <a:xfrm>
            <a:off x="4329321" y="4393436"/>
            <a:ext cx="1161270" cy="188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CONSUMIDO / META</a:t>
            </a:r>
            <a:endParaRPr lang="en-US" sz="890" dirty="0"/>
          </a:p>
        </p:txBody>
      </p:sp>
      <p:sp>
        <p:nvSpPr>
          <p:cNvPr id="21" name="Text 18"/>
          <p:cNvSpPr/>
          <p:nvPr/>
        </p:nvSpPr>
        <p:spPr>
          <a:xfrm>
            <a:off x="1625727" y="4716334"/>
            <a:ext cx="621930" cy="22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9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Proteína</a:t>
            </a:r>
            <a:endParaRPr lang="en-US" sz="1059" dirty="0"/>
          </a:p>
        </p:txBody>
      </p:sp>
      <p:sp>
        <p:nvSpPr>
          <p:cNvPr id="22" name="Shape 19"/>
          <p:cNvSpPr/>
          <p:nvPr/>
        </p:nvSpPr>
        <p:spPr>
          <a:xfrm>
            <a:off x="2257563" y="4716334"/>
            <a:ext cx="332652" cy="193739"/>
          </a:xfrm>
          <a:prstGeom prst="roundRect">
            <a:avLst>
              <a:gd name="adj" fmla="val 27778"/>
            </a:avLst>
          </a:prstGeom>
          <a:ln w="10763">
            <a:solidFill>
              <a:srgbClr val="84E0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322143" y="4737860"/>
            <a:ext cx="279693" cy="18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84E0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75%</a:t>
            </a:r>
            <a:endParaRPr lang="en-US" sz="890" dirty="0"/>
          </a:p>
        </p:txBody>
      </p:sp>
      <p:sp>
        <p:nvSpPr>
          <p:cNvPr id="24" name="Text 21"/>
          <p:cNvSpPr/>
          <p:nvPr/>
        </p:nvSpPr>
        <p:spPr>
          <a:xfrm>
            <a:off x="4555686" y="4705570"/>
            <a:ext cx="450727" cy="231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2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112 g</a:t>
            </a:r>
            <a:endParaRPr lang="en-US" sz="1102" dirty="0"/>
          </a:p>
        </p:txBody>
      </p:sp>
      <p:sp>
        <p:nvSpPr>
          <p:cNvPr id="25" name="Text 22"/>
          <p:cNvSpPr/>
          <p:nvPr/>
        </p:nvSpPr>
        <p:spPr>
          <a:xfrm>
            <a:off x="5016319" y="4727097"/>
            <a:ext cx="474272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/ 150 g</a:t>
            </a:r>
            <a:endParaRPr lang="en-US" sz="975" dirty="0"/>
          </a:p>
        </p:txBody>
      </p:sp>
      <p:sp>
        <p:nvSpPr>
          <p:cNvPr id="26" name="Shape 23"/>
          <p:cNvSpPr/>
          <p:nvPr/>
        </p:nvSpPr>
        <p:spPr>
          <a:xfrm>
            <a:off x="1625727" y="4985415"/>
            <a:ext cx="3788664" cy="75342"/>
          </a:xfrm>
          <a:prstGeom prst="roundRect">
            <a:avLst>
              <a:gd name="adj" fmla="val 50000"/>
            </a:avLst>
          </a:prstGeom>
          <a:solidFill>
            <a:srgbClr val="1B2539"/>
          </a:solidFill>
          <a:ln/>
        </p:spPr>
      </p:sp>
      <p:sp>
        <p:nvSpPr>
          <p:cNvPr id="27" name="Shape 24"/>
          <p:cNvSpPr/>
          <p:nvPr/>
        </p:nvSpPr>
        <p:spPr>
          <a:xfrm>
            <a:off x="1625727" y="4985415"/>
            <a:ext cx="2841498" cy="75342"/>
          </a:xfrm>
          <a:prstGeom prst="roundRect">
            <a:avLst>
              <a:gd name="adj" fmla="val 50000"/>
            </a:avLst>
          </a:prstGeom>
          <a:solidFill>
            <a:srgbClr val="84E0A8"/>
          </a:solidFill>
          <a:ln/>
        </p:spPr>
      </p:sp>
      <p:sp>
        <p:nvSpPr>
          <p:cNvPr id="28" name="Text 25"/>
          <p:cNvSpPr/>
          <p:nvPr/>
        </p:nvSpPr>
        <p:spPr>
          <a:xfrm>
            <a:off x="1625727" y="5222206"/>
            <a:ext cx="917247" cy="22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9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Carboidratos</a:t>
            </a:r>
            <a:endParaRPr lang="en-US" sz="1059" dirty="0"/>
          </a:p>
        </p:txBody>
      </p:sp>
      <p:sp>
        <p:nvSpPr>
          <p:cNvPr id="29" name="Shape 26"/>
          <p:cNvSpPr/>
          <p:nvPr/>
        </p:nvSpPr>
        <p:spPr>
          <a:xfrm>
            <a:off x="2552880" y="5222206"/>
            <a:ext cx="332651" cy="193739"/>
          </a:xfrm>
          <a:prstGeom prst="roundRect">
            <a:avLst>
              <a:gd name="adj" fmla="val 27778"/>
            </a:avLst>
          </a:prstGeom>
          <a:ln w="10763">
            <a:solidFill>
              <a:srgbClr val="5FC8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617460" y="5243733"/>
            <a:ext cx="279692" cy="18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5FC8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88%</a:t>
            </a:r>
            <a:endParaRPr lang="en-US" sz="890" dirty="0"/>
          </a:p>
        </p:txBody>
      </p:sp>
      <p:sp>
        <p:nvSpPr>
          <p:cNvPr id="31" name="Text 28"/>
          <p:cNvSpPr/>
          <p:nvPr/>
        </p:nvSpPr>
        <p:spPr>
          <a:xfrm>
            <a:off x="4528609" y="5211444"/>
            <a:ext cx="450896" cy="231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2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176 g</a:t>
            </a:r>
            <a:endParaRPr lang="en-US" sz="1102" dirty="0"/>
          </a:p>
        </p:txBody>
      </p:sp>
      <p:sp>
        <p:nvSpPr>
          <p:cNvPr id="32" name="Text 29"/>
          <p:cNvSpPr/>
          <p:nvPr/>
        </p:nvSpPr>
        <p:spPr>
          <a:xfrm>
            <a:off x="4989411" y="5232970"/>
            <a:ext cx="501180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/ 200 g</a:t>
            </a:r>
            <a:endParaRPr lang="en-US" sz="975" dirty="0"/>
          </a:p>
        </p:txBody>
      </p:sp>
      <p:sp>
        <p:nvSpPr>
          <p:cNvPr id="33" name="Shape 30"/>
          <p:cNvSpPr/>
          <p:nvPr/>
        </p:nvSpPr>
        <p:spPr>
          <a:xfrm>
            <a:off x="1625727" y="5491287"/>
            <a:ext cx="3788664" cy="75342"/>
          </a:xfrm>
          <a:prstGeom prst="roundRect">
            <a:avLst>
              <a:gd name="adj" fmla="val 50000"/>
            </a:avLst>
          </a:prstGeom>
          <a:solidFill>
            <a:srgbClr val="1B2539"/>
          </a:solidFill>
          <a:ln/>
        </p:spPr>
      </p:sp>
      <p:sp>
        <p:nvSpPr>
          <p:cNvPr id="34" name="Shape 31"/>
          <p:cNvSpPr/>
          <p:nvPr/>
        </p:nvSpPr>
        <p:spPr>
          <a:xfrm>
            <a:off x="1625727" y="5491287"/>
            <a:ext cx="3333917" cy="75342"/>
          </a:xfrm>
          <a:prstGeom prst="roundRect">
            <a:avLst>
              <a:gd name="adj" fmla="val 50000"/>
            </a:avLst>
          </a:prstGeom>
          <a:solidFill>
            <a:srgbClr val="5FC8E8"/>
          </a:solidFill>
          <a:ln/>
        </p:spPr>
      </p:sp>
      <p:sp>
        <p:nvSpPr>
          <p:cNvPr id="35" name="Text 32"/>
          <p:cNvSpPr/>
          <p:nvPr/>
        </p:nvSpPr>
        <p:spPr>
          <a:xfrm>
            <a:off x="1625727" y="5728079"/>
            <a:ext cx="597377" cy="22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9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Gordura</a:t>
            </a:r>
            <a:endParaRPr lang="en-US" sz="1059" dirty="0"/>
          </a:p>
        </p:txBody>
      </p:sp>
      <p:sp>
        <p:nvSpPr>
          <p:cNvPr id="36" name="Shape 33"/>
          <p:cNvSpPr/>
          <p:nvPr/>
        </p:nvSpPr>
        <p:spPr>
          <a:xfrm>
            <a:off x="2233010" y="5728079"/>
            <a:ext cx="332652" cy="193738"/>
          </a:xfrm>
          <a:prstGeom prst="roundRect">
            <a:avLst>
              <a:gd name="adj" fmla="val 27778"/>
            </a:avLst>
          </a:prstGeom>
          <a:ln w="10763">
            <a:solidFill>
              <a:srgbClr val="E5B15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297589" y="5749606"/>
            <a:ext cx="279693" cy="188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E5B1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89%</a:t>
            </a:r>
            <a:endParaRPr lang="en-US" sz="890" dirty="0"/>
          </a:p>
        </p:txBody>
      </p:sp>
      <p:sp>
        <p:nvSpPr>
          <p:cNvPr id="38" name="Text 35"/>
          <p:cNvSpPr/>
          <p:nvPr/>
        </p:nvSpPr>
        <p:spPr>
          <a:xfrm>
            <a:off x="4693421" y="5717316"/>
            <a:ext cx="363949" cy="231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2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58 g</a:t>
            </a:r>
            <a:endParaRPr lang="en-US" sz="1102" dirty="0"/>
          </a:p>
        </p:txBody>
      </p:sp>
      <p:sp>
        <p:nvSpPr>
          <p:cNvPr id="39" name="Text 36"/>
          <p:cNvSpPr/>
          <p:nvPr/>
        </p:nvSpPr>
        <p:spPr>
          <a:xfrm>
            <a:off x="5067276" y="5738843"/>
            <a:ext cx="423315" cy="1995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/ 65 g</a:t>
            </a:r>
            <a:endParaRPr lang="en-US" sz="975" dirty="0"/>
          </a:p>
        </p:txBody>
      </p:sp>
      <p:sp>
        <p:nvSpPr>
          <p:cNvPr id="40" name="Shape 37"/>
          <p:cNvSpPr/>
          <p:nvPr/>
        </p:nvSpPr>
        <p:spPr>
          <a:xfrm>
            <a:off x="1625727" y="5997161"/>
            <a:ext cx="3788664" cy="75342"/>
          </a:xfrm>
          <a:prstGeom prst="roundRect">
            <a:avLst>
              <a:gd name="adj" fmla="val 50000"/>
            </a:avLst>
          </a:prstGeom>
          <a:solidFill>
            <a:srgbClr val="1B2539"/>
          </a:solidFill>
          <a:ln/>
        </p:spPr>
      </p:sp>
      <p:sp>
        <p:nvSpPr>
          <p:cNvPr id="41" name="Shape 38"/>
          <p:cNvSpPr/>
          <p:nvPr/>
        </p:nvSpPr>
        <p:spPr>
          <a:xfrm>
            <a:off x="1625727" y="5997161"/>
            <a:ext cx="3371756" cy="75342"/>
          </a:xfrm>
          <a:prstGeom prst="roundRect">
            <a:avLst>
              <a:gd name="adj" fmla="val 50000"/>
            </a:avLst>
          </a:prstGeom>
          <a:solidFill>
            <a:srgbClr val="E5B15C"/>
          </a:solidFill>
          <a:ln/>
        </p:spPr>
      </p:sp>
      <p:sp>
        <p:nvSpPr>
          <p:cNvPr id="42" name="Shape 39"/>
          <p:cNvSpPr/>
          <p:nvPr/>
        </p:nvSpPr>
        <p:spPr>
          <a:xfrm>
            <a:off x="1421225" y="6406164"/>
            <a:ext cx="4197668" cy="2641033"/>
          </a:xfrm>
          <a:prstGeom prst="roundRect">
            <a:avLst>
              <a:gd name="adj" fmla="val 8966"/>
            </a:avLst>
          </a:prstGeom>
          <a:solidFill>
            <a:srgbClr val="131B2B"/>
          </a:solidFill>
          <a:ln w="1076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625727" y="6637574"/>
            <a:ext cx="32290" cy="139922"/>
          </a:xfrm>
          <a:prstGeom prst="roundRect">
            <a:avLst>
              <a:gd name="adj" fmla="val 50000"/>
            </a:avLst>
          </a:prstGeom>
          <a:solidFill>
            <a:srgbClr val="84E0A8"/>
          </a:solidFill>
          <a:ln/>
        </p:spPr>
      </p:sp>
      <p:sp>
        <p:nvSpPr>
          <p:cNvPr id="44" name="Text 41"/>
          <p:cNvSpPr/>
          <p:nvPr/>
        </p:nvSpPr>
        <p:spPr>
          <a:xfrm>
            <a:off x="1733359" y="6610665"/>
            <a:ext cx="1027402" cy="231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44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Leitura do dia</a:t>
            </a:r>
            <a:endParaRPr lang="en-US" sz="1144" dirty="0"/>
          </a:p>
        </p:txBody>
      </p:sp>
      <p:sp>
        <p:nvSpPr>
          <p:cNvPr id="45" name="Shape 42"/>
          <p:cNvSpPr/>
          <p:nvPr/>
        </p:nvSpPr>
        <p:spPr>
          <a:xfrm>
            <a:off x="1625727" y="6933563"/>
            <a:ext cx="3788664" cy="900750"/>
          </a:xfrm>
          <a:prstGeom prst="roundRect">
            <a:avLst>
              <a:gd name="adj" fmla="val 16729"/>
            </a:avLst>
          </a:prstGeom>
          <a:solidFill>
            <a:srgbClr val="1B2539"/>
          </a:solidFill>
          <a:ln/>
        </p:spPr>
      </p:sp>
      <p:sp>
        <p:nvSpPr>
          <p:cNvPr id="46" name="Text 43"/>
          <p:cNvSpPr/>
          <p:nvPr/>
        </p:nvSpPr>
        <p:spPr>
          <a:xfrm>
            <a:off x="1776413" y="7073486"/>
            <a:ext cx="3591912" cy="4437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2"/>
              </a:lnSpc>
              <a:buNone/>
            </a:pPr>
            <a:r>
              <a:rPr lang="en-US" sz="1102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proteína está em 75% da meta com 1 refeição prevista restante.</a:t>
            </a:r>
            <a:endParaRPr lang="en-US" sz="1102" dirty="0"/>
          </a:p>
        </p:txBody>
      </p:sp>
      <p:sp>
        <p:nvSpPr>
          <p:cNvPr id="47" name="Text 44"/>
          <p:cNvSpPr/>
          <p:nvPr/>
        </p:nvSpPr>
        <p:spPr>
          <a:xfrm>
            <a:off x="1776413" y="7543705"/>
            <a:ext cx="3836022" cy="18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2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112 g de 150 g · até 18h40</a:t>
            </a:r>
            <a:endParaRPr lang="en-US" sz="932" dirty="0"/>
          </a:p>
        </p:txBody>
      </p:sp>
      <p:sp>
        <p:nvSpPr>
          <p:cNvPr id="48" name="Shape 45"/>
          <p:cNvSpPr/>
          <p:nvPr/>
        </p:nvSpPr>
        <p:spPr>
          <a:xfrm>
            <a:off x="1625727" y="7941945"/>
            <a:ext cx="3788664" cy="900750"/>
          </a:xfrm>
          <a:prstGeom prst="roundRect">
            <a:avLst>
              <a:gd name="adj" fmla="val 16729"/>
            </a:avLst>
          </a:prstGeom>
          <a:solidFill>
            <a:srgbClr val="1B2539"/>
          </a:solidFill>
          <a:ln/>
        </p:spPr>
      </p:sp>
      <p:sp>
        <p:nvSpPr>
          <p:cNvPr id="49" name="Text 46"/>
          <p:cNvSpPr/>
          <p:nvPr/>
        </p:nvSpPr>
        <p:spPr>
          <a:xfrm>
            <a:off x="1776413" y="8081867"/>
            <a:ext cx="3591912" cy="443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2"/>
              </a:lnSpc>
              <a:buNone/>
            </a:pPr>
            <a:r>
              <a:rPr lang="en-US" sz="1102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jantar representa 43% das calorias registradas hoje.</a:t>
            </a:r>
            <a:endParaRPr lang="en-US" sz="1102" dirty="0"/>
          </a:p>
        </p:txBody>
      </p:sp>
      <p:sp>
        <p:nvSpPr>
          <p:cNvPr id="50" name="Text 47"/>
          <p:cNvSpPr/>
          <p:nvPr/>
        </p:nvSpPr>
        <p:spPr>
          <a:xfrm>
            <a:off x="1776413" y="8552087"/>
            <a:ext cx="3836022" cy="188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2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697 kcal de 1.620 kcal</a:t>
            </a:r>
            <a:endParaRPr lang="en-US" sz="932" dirty="0"/>
          </a:p>
        </p:txBody>
      </p:sp>
      <p:sp>
        <p:nvSpPr>
          <p:cNvPr id="51" name="Text 48"/>
          <p:cNvSpPr/>
          <p:nvPr/>
        </p:nvSpPr>
        <p:spPr>
          <a:xfrm>
            <a:off x="6800850" y="1934617"/>
            <a:ext cx="112737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TELA 01</a:t>
            </a:r>
            <a:endParaRPr lang="en-US" sz="1500" dirty="0"/>
          </a:p>
        </p:txBody>
      </p:sp>
      <p:sp>
        <p:nvSpPr>
          <p:cNvPr id="52" name="Text 49"/>
          <p:cNvSpPr/>
          <p:nvPr/>
        </p:nvSpPr>
        <p:spPr>
          <a:xfrm>
            <a:off x="6800850" y="2363242"/>
            <a:ext cx="1127379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31"/>
              </a:lnSpc>
              <a:buNone/>
            </a:pPr>
            <a:r>
              <a:rPr lang="en-US" sz="5700" b="1" spc="-199" kern="0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Hoje</a:t>
            </a:r>
            <a:endParaRPr lang="en-US" sz="5700" dirty="0"/>
          </a:p>
        </p:txBody>
      </p:sp>
      <p:sp>
        <p:nvSpPr>
          <p:cNvPr id="53" name="Text 50"/>
          <p:cNvSpPr/>
          <p:nvPr/>
        </p:nvSpPr>
        <p:spPr>
          <a:xfrm>
            <a:off x="6800850" y="3504307"/>
            <a:ext cx="6867525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56"/>
              </a:lnSpc>
              <a:buNone/>
            </a:pPr>
            <a:r>
              <a:rPr lang="en-US" sz="2250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Uma leitura em três segundos: quanto sobrou, como estão os macros e onde as calorias se concentraram.</a:t>
            </a:r>
            <a:endParaRPr lang="en-US" sz="2250" dirty="0"/>
          </a:p>
        </p:txBody>
      </p:sp>
      <p:sp>
        <p:nvSpPr>
          <p:cNvPr id="54" name="Shape 51"/>
          <p:cNvSpPr/>
          <p:nvPr/>
        </p:nvSpPr>
        <p:spPr>
          <a:xfrm>
            <a:off x="6800850" y="5342632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84E0A8"/>
          </a:solidFill>
          <a:ln/>
        </p:spPr>
      </p:sp>
      <p:sp>
        <p:nvSpPr>
          <p:cNvPr id="55" name="Text 52"/>
          <p:cNvSpPr/>
          <p:nvPr/>
        </p:nvSpPr>
        <p:spPr>
          <a:xfrm>
            <a:off x="7105650" y="5171182"/>
            <a:ext cx="6749796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11"/>
              </a:lnSpc>
              <a:buNone/>
            </a:pPr>
            <a:r>
              <a:rPr lang="en-US" sz="2025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Anel de meta com o restante em número grande, não só percentual</a:t>
            </a:r>
            <a:endParaRPr lang="en-US" sz="2025" dirty="0"/>
          </a:p>
        </p:txBody>
      </p:sp>
      <p:sp>
        <p:nvSpPr>
          <p:cNvPr id="56" name="Shape 53"/>
          <p:cNvSpPr/>
          <p:nvPr/>
        </p:nvSpPr>
        <p:spPr>
          <a:xfrm>
            <a:off x="6800850" y="6278761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5FC8E8"/>
          </a:solidFill>
          <a:ln/>
        </p:spPr>
      </p:sp>
      <p:sp>
        <p:nvSpPr>
          <p:cNvPr id="57" name="Text 54"/>
          <p:cNvSpPr/>
          <p:nvPr/>
        </p:nvSpPr>
        <p:spPr>
          <a:xfrm>
            <a:off x="7105650" y="6107311"/>
            <a:ext cx="6749796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11"/>
              </a:lnSpc>
              <a:buNone/>
            </a:pPr>
            <a:r>
              <a:rPr lang="en-US" sz="2025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Distribuição por refeição em barra única, com kcal e percentual</a:t>
            </a:r>
            <a:endParaRPr lang="en-US" sz="2025" dirty="0"/>
          </a:p>
        </p:txBody>
      </p:sp>
      <p:sp>
        <p:nvSpPr>
          <p:cNvPr id="58" name="Shape 55"/>
          <p:cNvSpPr/>
          <p:nvPr/>
        </p:nvSpPr>
        <p:spPr>
          <a:xfrm>
            <a:off x="6800850" y="7214890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E5B15C"/>
          </a:solidFill>
          <a:ln/>
        </p:spPr>
      </p:sp>
      <p:sp>
        <p:nvSpPr>
          <p:cNvPr id="59" name="Text 56"/>
          <p:cNvSpPr/>
          <p:nvPr/>
        </p:nvSpPr>
        <p:spPr>
          <a:xfrm>
            <a:off x="7105650" y="7043440"/>
            <a:ext cx="6749796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11"/>
              </a:lnSpc>
              <a:buNone/>
            </a:pPr>
            <a:r>
              <a:rPr lang="en-US" sz="2025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Chip de sincronização sempre visível, com horário de origem</a:t>
            </a:r>
            <a:endParaRPr lang="en-US" sz="2025" dirty="0"/>
          </a:p>
        </p:txBody>
      </p:sp>
      <p:sp>
        <p:nvSpPr>
          <p:cNvPr id="60" name="Shape 57"/>
          <p:cNvSpPr/>
          <p:nvPr/>
        </p:nvSpPr>
        <p:spPr>
          <a:xfrm>
            <a:off x="6800850" y="8151019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9E9BF0"/>
          </a:solidFill>
          <a:ln/>
        </p:spPr>
      </p:sp>
      <p:sp>
        <p:nvSpPr>
          <p:cNvPr id="61" name="Text 58"/>
          <p:cNvSpPr/>
          <p:nvPr/>
        </p:nvSpPr>
        <p:spPr>
          <a:xfrm>
            <a:off x="7105650" y="7979569"/>
            <a:ext cx="626636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11"/>
              </a:lnSpc>
              <a:buNone/>
            </a:pPr>
            <a:r>
              <a:rPr lang="en-US" sz="2025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Leitura do dia limitada a dois insights objetivos</a:t>
            </a:r>
            <a:endParaRPr lang="en-US" sz="20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1736527"/>
            <a:ext cx="1200721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TELA 02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8250" y="2165152"/>
            <a:ext cx="12007215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31"/>
              </a:lnSpc>
              <a:buNone/>
            </a:pPr>
            <a:r>
              <a:rPr lang="en-US" sz="5700" b="1" spc="-199" kern="0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Tendências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238250" y="3306217"/>
            <a:ext cx="68675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56"/>
              </a:lnSpc>
              <a:buNone/>
            </a:pPr>
            <a:r>
              <a:rPr lang="en-US" sz="2250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Como a média se move em 7, 14 e 30 dias — sempre com o número de dias registrados ao lado.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238250" y="4715917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84E0A8"/>
          </a:solidFill>
          <a:ln/>
        </p:spPr>
      </p:sp>
      <p:sp>
        <p:nvSpPr>
          <p:cNvPr id="6" name="Text 4"/>
          <p:cNvSpPr/>
          <p:nvPr/>
        </p:nvSpPr>
        <p:spPr>
          <a:xfrm>
            <a:off x="1543050" y="4544467"/>
            <a:ext cx="657168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11"/>
              </a:lnSpc>
              <a:buNone/>
            </a:pPr>
            <a:r>
              <a:rPr lang="en-US" sz="2025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Linha da meta vigente desenhada sobre o gráfico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1238250" y="5279231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5FC8E8"/>
          </a:solidFill>
          <a:ln/>
        </p:spPr>
      </p:sp>
      <p:sp>
        <p:nvSpPr>
          <p:cNvPr id="8" name="Text 6"/>
          <p:cNvSpPr/>
          <p:nvPr/>
        </p:nvSpPr>
        <p:spPr>
          <a:xfrm>
            <a:off x="1543050" y="5107781"/>
            <a:ext cx="630434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11"/>
              </a:lnSpc>
              <a:buNone/>
            </a:pPr>
            <a:r>
              <a:rPr lang="en-US" sz="2025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Toque na barra revela dia, valor e faixa em texto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1238250" y="5842546"/>
            <a:ext cx="114300" cy="114300"/>
          </a:xfrm>
          <a:prstGeom prst="roundRect">
            <a:avLst>
              <a:gd name="adj" fmla="val 33333"/>
            </a:avLst>
          </a:prstGeom>
          <a:solidFill>
            <a:srgbClr val="F0806F"/>
          </a:solidFill>
          <a:ln/>
        </p:spPr>
      </p:sp>
      <p:sp>
        <p:nvSpPr>
          <p:cNvPr id="10" name="Text 8"/>
          <p:cNvSpPr/>
          <p:nvPr/>
        </p:nvSpPr>
        <p:spPr>
          <a:xfrm>
            <a:off x="1543050" y="5671096"/>
            <a:ext cx="6749796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811"/>
              </a:lnSpc>
              <a:buNone/>
            </a:pPr>
            <a:r>
              <a:rPr lang="en-US" sz="2025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 sem registro é contorno tracejado, nunca barra zero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238250" y="6797725"/>
            <a:ext cx="7486650" cy="1752600"/>
          </a:xfrm>
          <a:prstGeom prst="roundRect">
            <a:avLst>
              <a:gd name="adj" fmla="val 13043"/>
            </a:avLst>
          </a:prstGeom>
          <a:solidFill>
            <a:srgbClr val="131B2B"/>
          </a:solidFill>
          <a:ln w="9525">
            <a:solidFill>
              <a:srgbClr val="FFFFFF">
                <a:alpha val="16000"/>
              </a:srgbClr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552575" y="7112050"/>
            <a:ext cx="75438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Dados insuficientes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552575" y="7550200"/>
            <a:ext cx="706374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800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“São necessários pelo menos quatro dias registrados em cada semana para realizar esta comparação.”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486132" y="1263348"/>
            <a:ext cx="4563618" cy="7760303"/>
          </a:xfrm>
          <a:prstGeom prst="roundRect">
            <a:avLst>
              <a:gd name="adj" fmla="val 8962"/>
            </a:avLst>
          </a:prstGeom>
          <a:solidFill>
            <a:srgbClr val="0A0F1A"/>
          </a:solidFill>
          <a:ln w="10763">
            <a:solidFill>
              <a:srgbClr val="FFFFFF">
                <a:alpha val="13000"/>
              </a:srgbClr>
            </a:solidFill>
            <a:prstDash val="solid"/>
          </a:ln>
          <a:effectLst>
            <a:outerShdw sx="100000" sy="100000" kx="0" ky="0" algn="bl" rotWithShape="0" blurRad="857250" dist="285750" dir="5400000">
              <a:srgbClr val="000000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669107" y="1489377"/>
            <a:ext cx="4197668" cy="484346"/>
          </a:xfrm>
          <a:prstGeom prst="roundRect">
            <a:avLst>
              <a:gd name="adj" fmla="val 31111"/>
            </a:avLst>
          </a:prstGeom>
          <a:solidFill>
            <a:srgbClr val="131B2B"/>
          </a:solidFill>
          <a:ln w="1076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722923" y="1543193"/>
            <a:ext cx="1334643" cy="376714"/>
          </a:xfrm>
          <a:prstGeom prst="roundRect">
            <a:avLst>
              <a:gd name="adj" fmla="val 28571"/>
            </a:avLst>
          </a:prstGeom>
          <a:solidFill>
            <a:srgbClr val="1B2539"/>
          </a:solidFill>
          <a:ln/>
        </p:spPr>
      </p:sp>
      <p:sp>
        <p:nvSpPr>
          <p:cNvPr id="17" name="Text 15"/>
          <p:cNvSpPr/>
          <p:nvPr/>
        </p:nvSpPr>
        <p:spPr>
          <a:xfrm>
            <a:off x="12684823" y="1640062"/>
            <a:ext cx="1410843" cy="22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7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 dias</a:t>
            </a:r>
            <a:endParaRPr lang="en-US" sz="1017" dirty="0"/>
          </a:p>
        </p:txBody>
      </p:sp>
      <p:sp>
        <p:nvSpPr>
          <p:cNvPr id="18" name="Text 16"/>
          <p:cNvSpPr/>
          <p:nvPr/>
        </p:nvSpPr>
        <p:spPr>
          <a:xfrm>
            <a:off x="14062520" y="1640062"/>
            <a:ext cx="1410843" cy="22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7" b="1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 dias</a:t>
            </a:r>
            <a:endParaRPr lang="en-US" sz="1017" dirty="0"/>
          </a:p>
        </p:txBody>
      </p:sp>
      <p:sp>
        <p:nvSpPr>
          <p:cNvPr id="19" name="Text 17"/>
          <p:cNvSpPr/>
          <p:nvPr/>
        </p:nvSpPr>
        <p:spPr>
          <a:xfrm>
            <a:off x="15440216" y="1640062"/>
            <a:ext cx="1410843" cy="22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17" b="1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 dias</a:t>
            </a:r>
            <a:endParaRPr lang="en-US" sz="1017" dirty="0"/>
          </a:p>
        </p:txBody>
      </p:sp>
      <p:sp>
        <p:nvSpPr>
          <p:cNvPr id="20" name="Shape 18"/>
          <p:cNvSpPr/>
          <p:nvPr/>
        </p:nvSpPr>
        <p:spPr>
          <a:xfrm>
            <a:off x="12669107" y="2102882"/>
            <a:ext cx="4197668" cy="1711357"/>
          </a:xfrm>
          <a:prstGeom prst="roundRect">
            <a:avLst>
              <a:gd name="adj" fmla="val 13836"/>
            </a:avLst>
          </a:prstGeom>
          <a:solidFill>
            <a:srgbClr val="131B2B"/>
          </a:solidFill>
          <a:ln w="1076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73610" y="2307384"/>
            <a:ext cx="4167531" cy="188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2" b="1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MÉDIA DIÁRIA DE CALORIAS</a:t>
            </a:r>
            <a:endParaRPr lang="en-US" sz="932" dirty="0"/>
          </a:p>
        </p:txBody>
      </p:sp>
      <p:sp>
        <p:nvSpPr>
          <p:cNvPr id="22" name="Text 20"/>
          <p:cNvSpPr/>
          <p:nvPr/>
        </p:nvSpPr>
        <p:spPr>
          <a:xfrm>
            <a:off x="12873610" y="2544175"/>
            <a:ext cx="1218113" cy="468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727"/>
              </a:lnSpc>
              <a:buNone/>
            </a:pPr>
            <a:r>
              <a:rPr lang="en-US" sz="3390" b="1" spc="-102" kern="0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2.067</a:t>
            </a:r>
            <a:endParaRPr lang="en-US" sz="3390" dirty="0"/>
          </a:p>
        </p:txBody>
      </p:sp>
      <p:sp>
        <p:nvSpPr>
          <p:cNvPr id="23" name="Text 21"/>
          <p:cNvSpPr/>
          <p:nvPr/>
        </p:nvSpPr>
        <p:spPr>
          <a:xfrm>
            <a:off x="14123155" y="2737914"/>
            <a:ext cx="596704" cy="231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02" b="1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kcal/dia</a:t>
            </a:r>
            <a:endParaRPr lang="en-US" sz="1102" dirty="0"/>
          </a:p>
        </p:txBody>
      </p:sp>
      <p:sp>
        <p:nvSpPr>
          <p:cNvPr id="24" name="Shape 22"/>
          <p:cNvSpPr/>
          <p:nvPr/>
        </p:nvSpPr>
        <p:spPr>
          <a:xfrm>
            <a:off x="12873610" y="3103864"/>
            <a:ext cx="556325" cy="247555"/>
          </a:xfrm>
          <a:prstGeom prst="roundRect">
            <a:avLst>
              <a:gd name="adj" fmla="val 34783"/>
            </a:avLst>
          </a:prstGeom>
          <a:solidFill>
            <a:srgbClr val="84E0A8">
              <a:alpha val="1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2970479" y="3146917"/>
            <a:ext cx="438787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4E0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−4,2%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3516040" y="3146917"/>
            <a:ext cx="1197764" cy="199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vs. período anterior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2873610" y="3459052"/>
            <a:ext cx="4167531" cy="188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2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dias registrados · dias ausentes excluídos</a:t>
            </a:r>
            <a:endParaRPr lang="en-US" sz="932" dirty="0"/>
          </a:p>
        </p:txBody>
      </p:sp>
      <p:sp>
        <p:nvSpPr>
          <p:cNvPr id="28" name="Shape 26"/>
          <p:cNvSpPr/>
          <p:nvPr/>
        </p:nvSpPr>
        <p:spPr>
          <a:xfrm>
            <a:off x="12669107" y="3943398"/>
            <a:ext cx="4197668" cy="3046000"/>
          </a:xfrm>
          <a:prstGeom prst="roundRect">
            <a:avLst>
              <a:gd name="adj" fmla="val 7774"/>
            </a:avLst>
          </a:prstGeom>
          <a:solidFill>
            <a:srgbClr val="131B2B"/>
          </a:solidFill>
          <a:ln w="1076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73610" y="4147899"/>
            <a:ext cx="1168501" cy="231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44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Calorias por dia</a:t>
            </a:r>
            <a:endParaRPr lang="en-US" sz="1144" dirty="0"/>
          </a:p>
        </p:txBody>
      </p:sp>
      <p:sp>
        <p:nvSpPr>
          <p:cNvPr id="30" name="Text 28"/>
          <p:cNvSpPr/>
          <p:nvPr/>
        </p:nvSpPr>
        <p:spPr>
          <a:xfrm>
            <a:off x="15170386" y="4180189"/>
            <a:ext cx="1641077" cy="188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 DIAS · 6 REGISTRADOS</a:t>
            </a:r>
            <a:endParaRPr lang="en-US" sz="890" dirty="0"/>
          </a:p>
        </p:txBody>
      </p:sp>
      <p:sp>
        <p:nvSpPr>
          <p:cNvPr id="31" name="Text 29"/>
          <p:cNvSpPr/>
          <p:nvPr/>
        </p:nvSpPr>
        <p:spPr>
          <a:xfrm>
            <a:off x="12873610" y="4470797"/>
            <a:ext cx="4167531" cy="22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7" b="1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24/07 · 2.480 kcal · acima da meta</a:t>
            </a:r>
            <a:endParaRPr lang="en-US" sz="1017" dirty="0"/>
          </a:p>
        </p:txBody>
      </p:sp>
      <p:sp>
        <p:nvSpPr>
          <p:cNvPr id="32" name="Shape 30"/>
          <p:cNvSpPr/>
          <p:nvPr/>
        </p:nvSpPr>
        <p:spPr>
          <a:xfrm>
            <a:off x="12873610" y="5073539"/>
            <a:ext cx="3788664" cy="10763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6048768" y="4922854"/>
            <a:ext cx="689706" cy="17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05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 2.000</a:t>
            </a:r>
            <a:endParaRPr lang="en-US" sz="805" dirty="0"/>
          </a:p>
        </p:txBody>
      </p:sp>
      <p:sp>
        <p:nvSpPr>
          <p:cNvPr id="34" name="Shape 32"/>
          <p:cNvSpPr/>
          <p:nvPr/>
        </p:nvSpPr>
        <p:spPr>
          <a:xfrm>
            <a:off x="12873610" y="5310331"/>
            <a:ext cx="482664" cy="850297"/>
          </a:xfrm>
          <a:custGeom>
            <a:avLst/>
            <a:gdLst/>
            <a:ahLst/>
            <a:cxnLst/>
            <a:rect l="l" t="t" r="r" b="b"/>
            <a:pathLst>
              <a:path w="482664" h="850297">
                <a:moveTo>
                  <a:pt x="53816" y="0"/>
                </a:moveTo>
                <a:lnTo>
                  <a:pt x="428847" y="0"/>
                </a:lnTo>
                <a:arcTo hR="53816" wR="53816" stAng="16200000" swAng="5400000"/>
                <a:lnTo>
                  <a:pt x="482664" y="818007"/>
                </a:lnTo>
                <a:arcTo hR="32290" wR="32290" stAng="0" swAng="5400000"/>
                <a:lnTo>
                  <a:pt x="32290" y="850297"/>
                </a:lnTo>
                <a:arcTo hR="32290" wR="32290" stAng="5400000" swAng="5400000"/>
                <a:lnTo>
                  <a:pt x="0" y="53816"/>
                </a:lnTo>
                <a:arcTo hR="53816" wR="53816" stAng="10800000" swAng="5400000"/>
                <a:close/>
              </a:path>
            </a:pathLst>
          </a:custGeom>
          <a:solidFill>
            <a:srgbClr val="5FC8E8">
              <a:alpha val="3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3420853" y="5062776"/>
            <a:ext cx="482833" cy="1097852"/>
          </a:xfrm>
          <a:custGeom>
            <a:avLst/>
            <a:gdLst/>
            <a:ahLst/>
            <a:cxnLst/>
            <a:rect l="l" t="t" r="r" b="b"/>
            <a:pathLst>
              <a:path w="482833" h="1097852">
                <a:moveTo>
                  <a:pt x="53816" y="0"/>
                </a:moveTo>
                <a:lnTo>
                  <a:pt x="429017" y="0"/>
                </a:lnTo>
                <a:arcTo hR="53816" wR="53816" stAng="16200000" swAng="5400000"/>
                <a:lnTo>
                  <a:pt x="482833" y="1065562"/>
                </a:lnTo>
                <a:arcTo hR="32290" wR="32290" stAng="0" swAng="5400000"/>
                <a:lnTo>
                  <a:pt x="32290" y="1097852"/>
                </a:lnTo>
                <a:arcTo hR="32290" wR="32290" stAng="5400000" swAng="5400000"/>
                <a:lnTo>
                  <a:pt x="0" y="53816"/>
                </a:lnTo>
                <a:arcTo hR="53816" wR="53816" stAng="10800000" swAng="5400000"/>
                <a:close/>
              </a:path>
            </a:pathLst>
          </a:custGeom>
          <a:solidFill>
            <a:srgbClr val="84E0A8">
              <a:alpha val="3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3968265" y="5181172"/>
            <a:ext cx="482833" cy="979456"/>
          </a:xfrm>
          <a:custGeom>
            <a:avLst/>
            <a:gdLst/>
            <a:ahLst/>
            <a:cxnLst/>
            <a:rect l="l" t="t" r="r" b="b"/>
            <a:pathLst>
              <a:path w="482833" h="979456">
                <a:moveTo>
                  <a:pt x="53816" y="0"/>
                </a:moveTo>
                <a:lnTo>
                  <a:pt x="429017" y="0"/>
                </a:lnTo>
                <a:arcTo hR="53816" wR="53816" stAng="16200000" swAng="5400000"/>
                <a:lnTo>
                  <a:pt x="482833" y="947166"/>
                </a:lnTo>
                <a:arcTo hR="32290" wR="32290" stAng="0" swAng="5400000"/>
                <a:lnTo>
                  <a:pt x="32290" y="979456"/>
                </a:lnTo>
                <a:arcTo hR="32290" wR="32290" stAng="5400000" swAng="5400000"/>
                <a:lnTo>
                  <a:pt x="0" y="53816"/>
                </a:lnTo>
                <a:arcTo hR="53816" wR="53816" stAng="10800000" swAng="5400000"/>
                <a:close/>
              </a:path>
            </a:pathLst>
          </a:custGeom>
          <a:solidFill>
            <a:srgbClr val="84E0A8">
              <a:alpha val="3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4515677" y="4847511"/>
            <a:ext cx="504360" cy="1313117"/>
          </a:xfrm>
          <a:custGeom>
            <a:avLst/>
            <a:gdLst/>
            <a:ahLst/>
            <a:cxnLst/>
            <a:rect l="l" t="t" r="r" b="b"/>
            <a:pathLst>
              <a:path w="504360" h="1313117">
                <a:moveTo>
                  <a:pt x="53816" y="0"/>
                </a:moveTo>
                <a:lnTo>
                  <a:pt x="450544" y="0"/>
                </a:lnTo>
                <a:arcTo hR="53816" wR="53816" stAng="16200000" swAng="5400000"/>
                <a:lnTo>
                  <a:pt x="504360" y="1280827"/>
                </a:lnTo>
                <a:arcTo hR="32290" wR="32290" stAng="0" swAng="5400000"/>
                <a:lnTo>
                  <a:pt x="32290" y="1313117"/>
                </a:lnTo>
                <a:arcTo hR="32290" wR="32290" stAng="5400000" swAng="5400000"/>
                <a:lnTo>
                  <a:pt x="0" y="53816"/>
                </a:lnTo>
                <a:arcTo hR="53816" wR="53816" stAng="10800000" swAng="5400000"/>
                <a:close/>
              </a:path>
            </a:pathLst>
          </a:custGeom>
          <a:ln w="10763">
            <a:solidFill>
              <a:srgbClr val="64748F">
                <a:alpha val="38000"/>
              </a:srgbClr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5084616" y="5342620"/>
            <a:ext cx="482832" cy="818007"/>
          </a:xfrm>
          <a:custGeom>
            <a:avLst/>
            <a:gdLst/>
            <a:ahLst/>
            <a:cxnLst/>
            <a:rect l="l" t="t" r="r" b="b"/>
            <a:pathLst>
              <a:path w="482832" h="818007">
                <a:moveTo>
                  <a:pt x="53816" y="0"/>
                </a:moveTo>
                <a:lnTo>
                  <a:pt x="429016" y="0"/>
                </a:lnTo>
                <a:arcTo hR="53816" wR="53816" stAng="16200000" swAng="5400000"/>
                <a:lnTo>
                  <a:pt x="482832" y="785717"/>
                </a:lnTo>
                <a:arcTo hR="32290" wR="32290" stAng="0" swAng="5400000"/>
                <a:lnTo>
                  <a:pt x="32290" y="818007"/>
                </a:lnTo>
                <a:arcTo hR="32290" wR="32290" stAng="5400000" swAng="5400000"/>
                <a:lnTo>
                  <a:pt x="0" y="53816"/>
                </a:lnTo>
                <a:arcTo hR="53816" wR="53816" stAng="10800000" swAng="5400000"/>
                <a:close/>
              </a:path>
            </a:pathLst>
          </a:custGeom>
          <a:solidFill>
            <a:srgbClr val="5FC8E8">
              <a:alpha val="3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5632028" y="4933616"/>
            <a:ext cx="482832" cy="1227011"/>
          </a:xfrm>
          <a:custGeom>
            <a:avLst/>
            <a:gdLst/>
            <a:ahLst/>
            <a:cxnLst/>
            <a:rect l="l" t="t" r="r" b="b"/>
            <a:pathLst>
              <a:path w="482832" h="1227011">
                <a:moveTo>
                  <a:pt x="53816" y="0"/>
                </a:moveTo>
                <a:lnTo>
                  <a:pt x="429016" y="0"/>
                </a:lnTo>
                <a:arcTo hR="53816" wR="53816" stAng="16200000" swAng="5400000"/>
                <a:lnTo>
                  <a:pt x="482832" y="1194721"/>
                </a:lnTo>
                <a:arcTo hR="32290" wR="32290" stAng="0" swAng="5400000"/>
                <a:lnTo>
                  <a:pt x="32290" y="1227011"/>
                </a:lnTo>
                <a:arcTo hR="32290" wR="32290" stAng="5400000" swAng="5400000"/>
                <a:lnTo>
                  <a:pt x="0" y="53816"/>
                </a:lnTo>
                <a:arcTo hR="53816" wR="53816" stAng="10800000" swAng="5400000"/>
                <a:close/>
              </a:path>
            </a:pathLst>
          </a:custGeom>
          <a:solidFill>
            <a:srgbClr val="F0806F"/>
          </a:solidFill>
          <a:ln/>
        </p:spPr>
      </p:sp>
      <p:sp>
        <p:nvSpPr>
          <p:cNvPr id="40" name="Shape 38"/>
          <p:cNvSpPr/>
          <p:nvPr/>
        </p:nvSpPr>
        <p:spPr>
          <a:xfrm>
            <a:off x="16179440" y="4987433"/>
            <a:ext cx="482833" cy="1173195"/>
          </a:xfrm>
          <a:custGeom>
            <a:avLst/>
            <a:gdLst/>
            <a:ahLst/>
            <a:cxnLst/>
            <a:rect l="l" t="t" r="r" b="b"/>
            <a:pathLst>
              <a:path w="482833" h="1173195">
                <a:moveTo>
                  <a:pt x="53816" y="0"/>
                </a:moveTo>
                <a:lnTo>
                  <a:pt x="429017" y="0"/>
                </a:lnTo>
                <a:arcTo hR="53816" wR="53816" stAng="16200000" swAng="5400000"/>
                <a:lnTo>
                  <a:pt x="482833" y="1140905"/>
                </a:lnTo>
                <a:arcTo hR="32290" wR="32290" stAng="0" swAng="5400000"/>
                <a:lnTo>
                  <a:pt x="32290" y="1173195"/>
                </a:lnTo>
                <a:arcTo hR="32290" wR="32290" stAng="5400000" swAng="5400000"/>
                <a:lnTo>
                  <a:pt x="0" y="53816"/>
                </a:lnTo>
                <a:arcTo hR="53816" wR="53816" stAng="10800000" swAng="5400000"/>
                <a:close/>
              </a:path>
            </a:pathLst>
          </a:custGeom>
          <a:solidFill>
            <a:srgbClr val="F0806F">
              <a:alpha val="38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2835510" y="6235970"/>
            <a:ext cx="562059" cy="156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Dom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13385948" y="6235970"/>
            <a:ext cx="562228" cy="156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Seg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13936556" y="6235970"/>
            <a:ext cx="562060" cy="156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14486995" y="6235970"/>
            <a:ext cx="562060" cy="156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Qua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15037434" y="6235970"/>
            <a:ext cx="562060" cy="156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Qui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15587874" y="6235970"/>
            <a:ext cx="562060" cy="156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Sex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16138313" y="6235970"/>
            <a:ext cx="562061" cy="156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Sáb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12873610" y="6494288"/>
            <a:ext cx="3788664" cy="10763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2873610" y="6666500"/>
            <a:ext cx="86105" cy="86106"/>
          </a:xfrm>
          <a:prstGeom prst="roundRect">
            <a:avLst>
              <a:gd name="adj" fmla="val 25000"/>
            </a:avLst>
          </a:prstGeom>
          <a:solidFill>
            <a:srgbClr val="F0806F"/>
          </a:solidFill>
          <a:ln/>
        </p:spPr>
      </p:sp>
      <p:sp>
        <p:nvSpPr>
          <p:cNvPr id="50" name="Text 48"/>
          <p:cNvSpPr/>
          <p:nvPr/>
        </p:nvSpPr>
        <p:spPr>
          <a:xfrm>
            <a:off x="13013531" y="6634210"/>
            <a:ext cx="376057" cy="18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8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acima</a:t>
            </a:r>
            <a:endParaRPr lang="en-US" sz="848" dirty="0"/>
          </a:p>
        </p:txBody>
      </p:sp>
      <p:sp>
        <p:nvSpPr>
          <p:cNvPr id="51" name="Shape 49"/>
          <p:cNvSpPr/>
          <p:nvPr/>
        </p:nvSpPr>
        <p:spPr>
          <a:xfrm>
            <a:off x="13442548" y="6666500"/>
            <a:ext cx="86105" cy="86106"/>
          </a:xfrm>
          <a:prstGeom prst="roundRect">
            <a:avLst>
              <a:gd name="adj" fmla="val 25000"/>
            </a:avLst>
          </a:prstGeom>
          <a:solidFill>
            <a:srgbClr val="84E0A8"/>
          </a:solidFill>
          <a:ln/>
        </p:spPr>
      </p:sp>
      <p:sp>
        <p:nvSpPr>
          <p:cNvPr id="52" name="Text 50"/>
          <p:cNvSpPr/>
          <p:nvPr/>
        </p:nvSpPr>
        <p:spPr>
          <a:xfrm>
            <a:off x="13582470" y="6634210"/>
            <a:ext cx="485036" cy="18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8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próximo</a:t>
            </a:r>
            <a:endParaRPr lang="en-US" sz="848" dirty="0"/>
          </a:p>
        </p:txBody>
      </p:sp>
      <p:sp>
        <p:nvSpPr>
          <p:cNvPr id="53" name="Shape 51"/>
          <p:cNvSpPr/>
          <p:nvPr/>
        </p:nvSpPr>
        <p:spPr>
          <a:xfrm>
            <a:off x="14120464" y="6666500"/>
            <a:ext cx="86106" cy="86106"/>
          </a:xfrm>
          <a:prstGeom prst="roundRect">
            <a:avLst>
              <a:gd name="adj" fmla="val 25000"/>
            </a:avLst>
          </a:prstGeom>
          <a:solidFill>
            <a:srgbClr val="5FC8E8"/>
          </a:solidFill>
          <a:ln/>
        </p:spPr>
      </p:sp>
      <p:sp>
        <p:nvSpPr>
          <p:cNvPr id="54" name="Text 52"/>
          <p:cNvSpPr/>
          <p:nvPr/>
        </p:nvSpPr>
        <p:spPr>
          <a:xfrm>
            <a:off x="14260387" y="6634210"/>
            <a:ext cx="408852" cy="18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8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abaixo</a:t>
            </a:r>
            <a:endParaRPr lang="en-US" sz="848" dirty="0"/>
          </a:p>
        </p:txBody>
      </p:sp>
      <p:sp>
        <p:nvSpPr>
          <p:cNvPr id="55" name="Shape 53"/>
          <p:cNvSpPr/>
          <p:nvPr/>
        </p:nvSpPr>
        <p:spPr>
          <a:xfrm>
            <a:off x="14722197" y="6655737"/>
            <a:ext cx="107633" cy="107632"/>
          </a:xfrm>
          <a:prstGeom prst="roundRect">
            <a:avLst>
              <a:gd name="adj" fmla="val 20000"/>
            </a:avLst>
          </a:prstGeom>
          <a:ln w="10763">
            <a:solidFill>
              <a:srgbClr val="64748F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14883646" y="6634210"/>
            <a:ext cx="709214" cy="18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48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 registro</a:t>
            </a:r>
            <a:endParaRPr lang="en-US" sz="848" dirty="0"/>
          </a:p>
        </p:txBody>
      </p:sp>
      <p:sp>
        <p:nvSpPr>
          <p:cNvPr id="57" name="Shape 55"/>
          <p:cNvSpPr/>
          <p:nvPr/>
        </p:nvSpPr>
        <p:spPr>
          <a:xfrm>
            <a:off x="12669107" y="7118556"/>
            <a:ext cx="4197668" cy="1679067"/>
          </a:xfrm>
          <a:prstGeom prst="roundRect">
            <a:avLst>
              <a:gd name="adj" fmla="val 14103"/>
            </a:avLst>
          </a:prstGeom>
          <a:solidFill>
            <a:srgbClr val="131B2B"/>
          </a:solidFill>
          <a:ln w="1076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2873610" y="7323058"/>
            <a:ext cx="4167531" cy="231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44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Dias em relação à meta</a:t>
            </a:r>
            <a:endParaRPr lang="en-US" sz="1144" dirty="0"/>
          </a:p>
        </p:txBody>
      </p:sp>
      <p:sp>
        <p:nvSpPr>
          <p:cNvPr id="59" name="Shape 57"/>
          <p:cNvSpPr/>
          <p:nvPr/>
        </p:nvSpPr>
        <p:spPr>
          <a:xfrm>
            <a:off x="12873610" y="7656719"/>
            <a:ext cx="1086246" cy="107633"/>
          </a:xfrm>
          <a:prstGeom prst="rect">
            <a:avLst/>
          </a:prstGeom>
          <a:solidFill>
            <a:srgbClr val="F0806F"/>
          </a:solidFill>
          <a:ln/>
        </p:spPr>
      </p:sp>
      <p:sp>
        <p:nvSpPr>
          <p:cNvPr id="60" name="Shape 58"/>
          <p:cNvSpPr/>
          <p:nvPr/>
        </p:nvSpPr>
        <p:spPr>
          <a:xfrm>
            <a:off x="13981383" y="7656719"/>
            <a:ext cx="1722961" cy="107633"/>
          </a:xfrm>
          <a:prstGeom prst="rect">
            <a:avLst/>
          </a:prstGeom>
          <a:solidFill>
            <a:srgbClr val="84E0A8"/>
          </a:solidFill>
          <a:ln/>
        </p:spPr>
      </p:sp>
      <p:sp>
        <p:nvSpPr>
          <p:cNvPr id="61" name="Shape 59"/>
          <p:cNvSpPr/>
          <p:nvPr/>
        </p:nvSpPr>
        <p:spPr>
          <a:xfrm>
            <a:off x="15725870" y="7656719"/>
            <a:ext cx="936403" cy="107633"/>
          </a:xfrm>
          <a:prstGeom prst="rect">
            <a:avLst/>
          </a:prstGeom>
          <a:solidFill>
            <a:srgbClr val="5FC8E8"/>
          </a:solidFill>
          <a:ln/>
        </p:spPr>
      </p:sp>
      <p:sp>
        <p:nvSpPr>
          <p:cNvPr id="62" name="Shape 60"/>
          <p:cNvSpPr/>
          <p:nvPr/>
        </p:nvSpPr>
        <p:spPr>
          <a:xfrm>
            <a:off x="12873610" y="7915037"/>
            <a:ext cx="1205483" cy="678084"/>
          </a:xfrm>
          <a:prstGeom prst="roundRect">
            <a:avLst>
              <a:gd name="adj" fmla="val 19048"/>
            </a:avLst>
          </a:prstGeom>
          <a:solidFill>
            <a:srgbClr val="1B2539"/>
          </a:solidFill>
          <a:ln/>
        </p:spPr>
      </p:sp>
      <p:sp>
        <p:nvSpPr>
          <p:cNvPr id="63" name="Text 61"/>
          <p:cNvSpPr/>
          <p:nvPr/>
        </p:nvSpPr>
        <p:spPr>
          <a:xfrm>
            <a:off x="12981241" y="8033433"/>
            <a:ext cx="1066420" cy="296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25" b="1" dirty="0">
                <a:solidFill>
                  <a:srgbClr val="F0806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29%</a:t>
            </a:r>
            <a:endParaRPr lang="en-US" sz="1525" dirty="0"/>
          </a:p>
        </p:txBody>
      </p:sp>
      <p:sp>
        <p:nvSpPr>
          <p:cNvPr id="64" name="Text 62"/>
          <p:cNvSpPr/>
          <p:nvPr/>
        </p:nvSpPr>
        <p:spPr>
          <a:xfrm>
            <a:off x="12981241" y="8324040"/>
            <a:ext cx="1066420" cy="18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acima</a:t>
            </a:r>
            <a:endParaRPr lang="en-US" sz="890" dirty="0"/>
          </a:p>
        </p:txBody>
      </p:sp>
      <p:sp>
        <p:nvSpPr>
          <p:cNvPr id="65" name="Shape 63"/>
          <p:cNvSpPr/>
          <p:nvPr/>
        </p:nvSpPr>
        <p:spPr>
          <a:xfrm>
            <a:off x="14165199" y="7915037"/>
            <a:ext cx="1205483" cy="678084"/>
          </a:xfrm>
          <a:prstGeom prst="roundRect">
            <a:avLst>
              <a:gd name="adj" fmla="val 19048"/>
            </a:avLst>
          </a:prstGeom>
          <a:solidFill>
            <a:srgbClr val="1B2539"/>
          </a:solidFill>
          <a:ln/>
        </p:spPr>
      </p:sp>
      <p:sp>
        <p:nvSpPr>
          <p:cNvPr id="66" name="Text 64"/>
          <p:cNvSpPr/>
          <p:nvPr/>
        </p:nvSpPr>
        <p:spPr>
          <a:xfrm>
            <a:off x="14272831" y="8033433"/>
            <a:ext cx="1066420" cy="296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25" b="1" dirty="0">
                <a:solidFill>
                  <a:srgbClr val="84E0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46%</a:t>
            </a:r>
            <a:endParaRPr lang="en-US" sz="1525" dirty="0"/>
          </a:p>
        </p:txBody>
      </p:sp>
      <p:sp>
        <p:nvSpPr>
          <p:cNvPr id="67" name="Text 65"/>
          <p:cNvSpPr/>
          <p:nvPr/>
        </p:nvSpPr>
        <p:spPr>
          <a:xfrm>
            <a:off x="14272831" y="8324040"/>
            <a:ext cx="1066420" cy="18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próximos</a:t>
            </a:r>
            <a:endParaRPr lang="en-US" sz="890" dirty="0"/>
          </a:p>
        </p:txBody>
      </p:sp>
      <p:sp>
        <p:nvSpPr>
          <p:cNvPr id="68" name="Shape 66"/>
          <p:cNvSpPr/>
          <p:nvPr/>
        </p:nvSpPr>
        <p:spPr>
          <a:xfrm>
            <a:off x="15456789" y="7915037"/>
            <a:ext cx="1205485" cy="678084"/>
          </a:xfrm>
          <a:prstGeom prst="roundRect">
            <a:avLst>
              <a:gd name="adj" fmla="val 19048"/>
            </a:avLst>
          </a:prstGeom>
          <a:solidFill>
            <a:srgbClr val="1B2539"/>
          </a:solidFill>
          <a:ln/>
        </p:spPr>
      </p:sp>
      <p:sp>
        <p:nvSpPr>
          <p:cNvPr id="69" name="Text 67"/>
          <p:cNvSpPr/>
          <p:nvPr/>
        </p:nvSpPr>
        <p:spPr>
          <a:xfrm>
            <a:off x="15564422" y="8033433"/>
            <a:ext cx="1066419" cy="296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25" b="1" dirty="0">
                <a:solidFill>
                  <a:srgbClr val="5FC8E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25%</a:t>
            </a:r>
            <a:endParaRPr lang="en-US" sz="1525" dirty="0"/>
          </a:p>
        </p:txBody>
      </p:sp>
      <p:sp>
        <p:nvSpPr>
          <p:cNvPr id="70" name="Text 68"/>
          <p:cNvSpPr/>
          <p:nvPr/>
        </p:nvSpPr>
        <p:spPr>
          <a:xfrm>
            <a:off x="15564422" y="8324040"/>
            <a:ext cx="1066419" cy="1887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abaixo</a:t>
            </a:r>
            <a:endParaRPr lang="en-US" sz="8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273969"/>
            <a:ext cx="4038600" cy="7739062"/>
          </a:xfrm>
          <a:prstGeom prst="roundRect">
            <a:avLst>
              <a:gd name="adj" fmla="val 8962"/>
            </a:avLst>
          </a:prstGeom>
          <a:solidFill>
            <a:srgbClr val="0A0F1A"/>
          </a:solidFill>
          <a:ln w="9525">
            <a:solidFill>
              <a:srgbClr val="FFFFFF">
                <a:alpha val="13000"/>
              </a:srgbClr>
            </a:solidFill>
            <a:prstDash val="solid"/>
          </a:ln>
          <a:effectLst>
            <a:outerShdw sx="100000" sy="100000" kx="0" ky="0" algn="bl" rotWithShape="0" blurRad="857250" dist="285750" dir="5400000">
              <a:srgbClr val="000000">
                <a:alpha val="5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209675" y="1473994"/>
            <a:ext cx="3714750" cy="3350419"/>
          </a:xfrm>
          <a:prstGeom prst="roundRect">
            <a:avLst>
              <a:gd name="adj" fmla="val 6254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90650" y="1678781"/>
            <a:ext cx="28575" cy="123825"/>
          </a:xfrm>
          <a:prstGeom prst="roundRect">
            <a:avLst>
              <a:gd name="adj" fmla="val 50000"/>
            </a:avLst>
          </a:prstGeom>
          <a:solidFill>
            <a:srgbClr val="5FC8E8"/>
          </a:solidFill>
          <a:ln/>
        </p:spPr>
      </p:sp>
      <p:sp>
        <p:nvSpPr>
          <p:cNvPr id="5" name="Text 3"/>
          <p:cNvSpPr/>
          <p:nvPr/>
        </p:nvSpPr>
        <p:spPr>
          <a:xfrm>
            <a:off x="1485900" y="1654969"/>
            <a:ext cx="138564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Padrões observados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3829050" y="1678781"/>
            <a:ext cx="9906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SEMANAS · n=24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390650" y="1959769"/>
            <a:ext cx="3352800" cy="606623"/>
          </a:xfrm>
          <a:prstGeom prst="roundRect">
            <a:avLst>
              <a:gd name="adj" fmla="val 21982"/>
            </a:avLst>
          </a:prstGeom>
          <a:solidFill>
            <a:srgbClr val="1B2539"/>
          </a:solidFill>
          <a:ln/>
        </p:spPr>
      </p:sp>
      <p:sp>
        <p:nvSpPr>
          <p:cNvPr id="8" name="Shape 6"/>
          <p:cNvSpPr/>
          <p:nvPr/>
        </p:nvSpPr>
        <p:spPr>
          <a:xfrm>
            <a:off x="1524000" y="2083594"/>
            <a:ext cx="285750" cy="358973"/>
          </a:xfrm>
          <a:prstGeom prst="roundRect">
            <a:avLst>
              <a:gd name="adj" fmla="val 20000"/>
            </a:avLst>
          </a:prstGeom>
          <a:solidFill>
            <a:srgbClr val="E5B15C">
              <a:alpha val="1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581150" y="2112169"/>
            <a:ext cx="247650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5B1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905000" y="2083594"/>
            <a:ext cx="2596009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2"/>
              </a:lnSpc>
              <a:buNone/>
            </a:pPr>
            <a:r>
              <a:rPr lang="en-US" sz="975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Sua maior média calórica acontece aos sábados.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520059" y="2083594"/>
            <a:ext cx="166241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›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1390650" y="2652117"/>
            <a:ext cx="3352800" cy="606623"/>
          </a:xfrm>
          <a:prstGeom prst="roundRect">
            <a:avLst>
              <a:gd name="adj" fmla="val 21982"/>
            </a:avLst>
          </a:prstGeom>
          <a:solidFill>
            <a:srgbClr val="1B2539"/>
          </a:solidFill>
          <a:ln/>
        </p:spPr>
      </p:sp>
      <p:sp>
        <p:nvSpPr>
          <p:cNvPr id="13" name="Shape 11"/>
          <p:cNvSpPr/>
          <p:nvPr/>
        </p:nvSpPr>
        <p:spPr>
          <a:xfrm>
            <a:off x="1524000" y="2775942"/>
            <a:ext cx="400050" cy="358973"/>
          </a:xfrm>
          <a:prstGeom prst="roundRect">
            <a:avLst>
              <a:gd name="adj" fmla="val 15920"/>
            </a:avLst>
          </a:prstGeom>
          <a:solidFill>
            <a:srgbClr val="5FC8E8">
              <a:alpha val="1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581150" y="2804517"/>
            <a:ext cx="361950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FC8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CICLO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019300" y="2775942"/>
            <a:ext cx="2481709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2"/>
              </a:lnSpc>
              <a:buNone/>
            </a:pPr>
            <a:r>
              <a:rPr lang="en-US" sz="975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Nos finais de semana, sua média é 18% maior.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520059" y="2775942"/>
            <a:ext cx="166241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›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1390650" y="3344466"/>
            <a:ext cx="3352800" cy="606623"/>
          </a:xfrm>
          <a:prstGeom prst="roundRect">
            <a:avLst>
              <a:gd name="adj" fmla="val 21982"/>
            </a:avLst>
          </a:prstGeom>
          <a:solidFill>
            <a:srgbClr val="1B2539"/>
          </a:solidFill>
          <a:ln/>
        </p:spPr>
      </p:sp>
      <p:sp>
        <p:nvSpPr>
          <p:cNvPr id="18" name="Shape 16"/>
          <p:cNvSpPr/>
          <p:nvPr/>
        </p:nvSpPr>
        <p:spPr>
          <a:xfrm>
            <a:off x="1524000" y="3468291"/>
            <a:ext cx="400050" cy="358973"/>
          </a:xfrm>
          <a:prstGeom prst="roundRect">
            <a:avLst>
              <a:gd name="adj" fmla="val 15920"/>
            </a:avLst>
          </a:prstGeom>
          <a:solidFill>
            <a:srgbClr val="F0806F">
              <a:alpha val="1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581150" y="3496866"/>
            <a:ext cx="361950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80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MACRO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019300" y="3468291"/>
            <a:ext cx="2481709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2"/>
              </a:lnSpc>
              <a:buNone/>
            </a:pPr>
            <a:r>
              <a:rPr lang="en-US" sz="975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proteína ficou abaixo da meta em 6 dos últimos 10 dias registrados.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520059" y="3468291"/>
            <a:ext cx="166241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›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1390650" y="4036814"/>
            <a:ext cx="3352800" cy="606623"/>
          </a:xfrm>
          <a:prstGeom prst="roundRect">
            <a:avLst>
              <a:gd name="adj" fmla="val 21982"/>
            </a:avLst>
          </a:prstGeom>
          <a:solidFill>
            <a:srgbClr val="1B2539"/>
          </a:solidFill>
          <a:ln/>
        </p:spPr>
      </p:sp>
      <p:sp>
        <p:nvSpPr>
          <p:cNvPr id="23" name="Shape 21"/>
          <p:cNvSpPr/>
          <p:nvPr/>
        </p:nvSpPr>
        <p:spPr>
          <a:xfrm>
            <a:off x="1524000" y="4160639"/>
            <a:ext cx="571500" cy="358973"/>
          </a:xfrm>
          <a:prstGeom prst="roundRect">
            <a:avLst>
              <a:gd name="adj" fmla="val 15920"/>
            </a:avLst>
          </a:prstGeom>
          <a:solidFill>
            <a:srgbClr val="84E0A8">
              <a:alpha val="1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581150" y="4189214"/>
            <a:ext cx="533400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4E0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REFEIÇÃO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190750" y="4160639"/>
            <a:ext cx="2310259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22"/>
              </a:lnSpc>
              <a:buNone/>
            </a:pPr>
            <a:r>
              <a:rPr lang="en-US" sz="975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jantar é a refeição com maior participação nas calorias (43%).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4520059" y="4160639"/>
            <a:ext cx="166241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›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1209675" y="4938713"/>
            <a:ext cx="3714750" cy="1924050"/>
          </a:xfrm>
          <a:prstGeom prst="roundRect">
            <a:avLst>
              <a:gd name="adj" fmla="val 10891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90650" y="5119688"/>
            <a:ext cx="16741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Média por dia da semana</a:t>
            </a:r>
            <a:endParaRPr lang="en-US" sz="1013" dirty="0"/>
          </a:p>
        </p:txBody>
      </p:sp>
      <p:sp>
        <p:nvSpPr>
          <p:cNvPr id="29" name="Text 27"/>
          <p:cNvSpPr/>
          <p:nvPr/>
        </p:nvSpPr>
        <p:spPr>
          <a:xfrm>
            <a:off x="4203353" y="5148263"/>
            <a:ext cx="61629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SEMANAS</a:t>
            </a:r>
            <a:endParaRPr lang="en-US" sz="788" dirty="0"/>
          </a:p>
        </p:txBody>
      </p:sp>
      <p:sp>
        <p:nvSpPr>
          <p:cNvPr id="30" name="Shape 28"/>
          <p:cNvSpPr/>
          <p:nvPr/>
        </p:nvSpPr>
        <p:spPr>
          <a:xfrm>
            <a:off x="1390650" y="5605463"/>
            <a:ext cx="421779" cy="885825"/>
          </a:xfrm>
          <a:custGeom>
            <a:avLst/>
            <a:gdLst/>
            <a:ahLst/>
            <a:cxnLst/>
            <a:rect l="l" t="t" r="r" b="b"/>
            <a:pathLst>
              <a:path w="421779" h="885825">
                <a:moveTo>
                  <a:pt x="47625" y="0"/>
                </a:moveTo>
                <a:lnTo>
                  <a:pt x="374154" y="0"/>
                </a:lnTo>
                <a:arcTo hR="47625" wR="47625" stAng="16200000" swAng="5400000"/>
                <a:lnTo>
                  <a:pt x="421779" y="857250"/>
                </a:lnTo>
                <a:arcTo hR="28575" wR="28575" stAng="0" swAng="5400000"/>
                <a:lnTo>
                  <a:pt x="28575" y="885825"/>
                </a:lnTo>
                <a:arcTo hR="28575" wR="28575" stAng="5400000" swAng="5400000"/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E5B15C"/>
          </a:solidFill>
          <a:ln/>
        </p:spPr>
      </p:sp>
      <p:sp>
        <p:nvSpPr>
          <p:cNvPr id="31" name="Shape 29"/>
          <p:cNvSpPr/>
          <p:nvPr/>
        </p:nvSpPr>
        <p:spPr>
          <a:xfrm>
            <a:off x="1879104" y="5710238"/>
            <a:ext cx="421928" cy="781050"/>
          </a:xfrm>
          <a:custGeom>
            <a:avLst/>
            <a:gdLst/>
            <a:ahLst/>
            <a:cxnLst/>
            <a:rect l="l" t="t" r="r" b="b"/>
            <a:pathLst>
              <a:path w="421928" h="781050">
                <a:moveTo>
                  <a:pt x="47625" y="0"/>
                </a:moveTo>
                <a:lnTo>
                  <a:pt x="374303" y="0"/>
                </a:lnTo>
                <a:arcTo hR="47625" wR="47625" stAng="16200000" swAng="5400000"/>
                <a:lnTo>
                  <a:pt x="421928" y="752475"/>
                </a:lnTo>
                <a:arcTo hR="28575" wR="28575" stAng="0" swAng="5400000"/>
                <a:lnTo>
                  <a:pt x="28575" y="781050"/>
                </a:lnTo>
                <a:arcTo hR="28575" wR="28575" stAng="5400000" swAng="5400000"/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5FC8E8"/>
          </a:solidFill>
          <a:ln/>
        </p:spPr>
      </p:sp>
      <p:sp>
        <p:nvSpPr>
          <p:cNvPr id="32" name="Shape 30"/>
          <p:cNvSpPr/>
          <p:nvPr/>
        </p:nvSpPr>
        <p:spPr>
          <a:xfrm>
            <a:off x="2367707" y="5738813"/>
            <a:ext cx="421779" cy="752475"/>
          </a:xfrm>
          <a:custGeom>
            <a:avLst/>
            <a:gdLst/>
            <a:ahLst/>
            <a:cxnLst/>
            <a:rect l="l" t="t" r="r" b="b"/>
            <a:pathLst>
              <a:path w="421779" h="752475">
                <a:moveTo>
                  <a:pt x="47625" y="0"/>
                </a:moveTo>
                <a:lnTo>
                  <a:pt x="374154" y="0"/>
                </a:lnTo>
                <a:arcTo hR="47625" wR="47625" stAng="16200000" swAng="5400000"/>
                <a:lnTo>
                  <a:pt x="421779" y="723900"/>
                </a:lnTo>
                <a:arcTo hR="28575" wR="28575" stAng="0" swAng="5400000"/>
                <a:lnTo>
                  <a:pt x="28575" y="752475"/>
                </a:lnTo>
                <a:arcTo hR="28575" wR="28575" stAng="5400000" swAng="5400000"/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5FC8E8"/>
          </a:solidFill>
          <a:ln/>
        </p:spPr>
      </p:sp>
      <p:sp>
        <p:nvSpPr>
          <p:cNvPr id="33" name="Shape 31"/>
          <p:cNvSpPr/>
          <p:nvPr/>
        </p:nvSpPr>
        <p:spPr>
          <a:xfrm>
            <a:off x="2856161" y="5757863"/>
            <a:ext cx="421928" cy="733425"/>
          </a:xfrm>
          <a:custGeom>
            <a:avLst/>
            <a:gdLst/>
            <a:ahLst/>
            <a:cxnLst/>
            <a:rect l="l" t="t" r="r" b="b"/>
            <a:pathLst>
              <a:path w="421928" h="733425">
                <a:moveTo>
                  <a:pt x="47625" y="0"/>
                </a:moveTo>
                <a:lnTo>
                  <a:pt x="374303" y="0"/>
                </a:lnTo>
                <a:arcTo hR="47625" wR="47625" stAng="16200000" swAng="5400000"/>
                <a:lnTo>
                  <a:pt x="421928" y="704850"/>
                </a:lnTo>
                <a:arcTo hR="28575" wR="28575" stAng="0" swAng="5400000"/>
                <a:lnTo>
                  <a:pt x="28575" y="733425"/>
                </a:lnTo>
                <a:arcTo hR="28575" wR="28575" stAng="5400000" swAng="5400000"/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5FC8E8"/>
          </a:solidFill>
          <a:ln/>
        </p:spPr>
      </p:sp>
      <p:sp>
        <p:nvSpPr>
          <p:cNvPr id="34" name="Shape 32"/>
          <p:cNvSpPr/>
          <p:nvPr/>
        </p:nvSpPr>
        <p:spPr>
          <a:xfrm>
            <a:off x="3344763" y="5719763"/>
            <a:ext cx="421779" cy="771525"/>
          </a:xfrm>
          <a:custGeom>
            <a:avLst/>
            <a:gdLst/>
            <a:ahLst/>
            <a:cxnLst/>
            <a:rect l="l" t="t" r="r" b="b"/>
            <a:pathLst>
              <a:path w="421779" h="771525">
                <a:moveTo>
                  <a:pt x="47625" y="0"/>
                </a:moveTo>
                <a:lnTo>
                  <a:pt x="374154" y="0"/>
                </a:lnTo>
                <a:arcTo hR="47625" wR="47625" stAng="16200000" swAng="5400000"/>
                <a:lnTo>
                  <a:pt x="421779" y="742950"/>
                </a:lnTo>
                <a:arcTo hR="28575" wR="28575" stAng="0" swAng="5400000"/>
                <a:lnTo>
                  <a:pt x="28575" y="771525"/>
                </a:lnTo>
                <a:arcTo hR="28575" wR="28575" stAng="5400000" swAng="5400000"/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5FC8E8"/>
          </a:solidFill>
          <a:ln/>
        </p:spPr>
      </p:sp>
      <p:sp>
        <p:nvSpPr>
          <p:cNvPr id="35" name="Shape 33"/>
          <p:cNvSpPr/>
          <p:nvPr/>
        </p:nvSpPr>
        <p:spPr>
          <a:xfrm>
            <a:off x="3833217" y="5691188"/>
            <a:ext cx="421779" cy="800100"/>
          </a:xfrm>
          <a:custGeom>
            <a:avLst/>
            <a:gdLst/>
            <a:ahLst/>
            <a:cxnLst/>
            <a:rect l="l" t="t" r="r" b="b"/>
            <a:pathLst>
              <a:path w="421779" h="800100">
                <a:moveTo>
                  <a:pt x="47625" y="0"/>
                </a:moveTo>
                <a:lnTo>
                  <a:pt x="374154" y="0"/>
                </a:lnTo>
                <a:arcTo hR="47625" wR="47625" stAng="16200000" swAng="5400000"/>
                <a:lnTo>
                  <a:pt x="421779" y="771525"/>
                </a:lnTo>
                <a:arcTo hR="28575" wR="28575" stAng="0" swAng="5400000"/>
                <a:lnTo>
                  <a:pt x="28575" y="800100"/>
                </a:lnTo>
                <a:arcTo hR="28575" wR="28575" stAng="5400000" swAng="5400000"/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5FC8E8"/>
          </a:solidFill>
          <a:ln/>
        </p:spPr>
      </p:sp>
      <p:sp>
        <p:nvSpPr>
          <p:cNvPr id="36" name="Shape 34"/>
          <p:cNvSpPr/>
          <p:nvPr/>
        </p:nvSpPr>
        <p:spPr>
          <a:xfrm>
            <a:off x="4321671" y="5557838"/>
            <a:ext cx="421779" cy="933450"/>
          </a:xfrm>
          <a:custGeom>
            <a:avLst/>
            <a:gdLst/>
            <a:ahLst/>
            <a:cxnLst/>
            <a:rect l="l" t="t" r="r" b="b"/>
            <a:pathLst>
              <a:path w="421779" h="933450">
                <a:moveTo>
                  <a:pt x="47625" y="0"/>
                </a:moveTo>
                <a:lnTo>
                  <a:pt x="374154" y="0"/>
                </a:lnTo>
                <a:arcTo hR="47625" wR="47625" stAng="16200000" swAng="5400000"/>
                <a:lnTo>
                  <a:pt x="421779" y="904875"/>
                </a:lnTo>
                <a:arcTo hR="28575" wR="28575" stAng="0" swAng="5400000"/>
                <a:lnTo>
                  <a:pt x="28575" y="933450"/>
                </a:lnTo>
                <a:arcTo hR="28575" wR="28575" stAng="5400000" swAng="5400000"/>
                <a:lnTo>
                  <a:pt x="0" y="47625"/>
                </a:lnTo>
                <a:arcTo hR="47625" wR="47625" stAng="10800000" swAng="5400000"/>
                <a:close/>
              </a:path>
            </a:pathLst>
          </a:custGeom>
          <a:solidFill>
            <a:srgbClr val="E5B15C"/>
          </a:solidFill>
          <a:ln/>
        </p:spPr>
      </p:sp>
      <p:sp>
        <p:nvSpPr>
          <p:cNvPr id="37" name="Text 35"/>
          <p:cNvSpPr/>
          <p:nvPr/>
        </p:nvSpPr>
        <p:spPr>
          <a:xfrm>
            <a:off x="1352550" y="6557963"/>
            <a:ext cx="49797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Dom</a:t>
            </a:r>
            <a:endParaRPr lang="en-US" sz="713" dirty="0"/>
          </a:p>
        </p:txBody>
      </p:sp>
      <p:sp>
        <p:nvSpPr>
          <p:cNvPr id="38" name="Text 36"/>
          <p:cNvSpPr/>
          <p:nvPr/>
        </p:nvSpPr>
        <p:spPr>
          <a:xfrm>
            <a:off x="1841004" y="6557963"/>
            <a:ext cx="49812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Seg</a:t>
            </a:r>
            <a:endParaRPr lang="en-US" sz="713" dirty="0"/>
          </a:p>
        </p:txBody>
      </p:sp>
      <p:sp>
        <p:nvSpPr>
          <p:cNvPr id="39" name="Text 37"/>
          <p:cNvSpPr/>
          <p:nvPr/>
        </p:nvSpPr>
        <p:spPr>
          <a:xfrm>
            <a:off x="2329607" y="6557963"/>
            <a:ext cx="49797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Ter</a:t>
            </a:r>
            <a:endParaRPr lang="en-US" sz="713" dirty="0"/>
          </a:p>
        </p:txBody>
      </p:sp>
      <p:sp>
        <p:nvSpPr>
          <p:cNvPr id="40" name="Text 38"/>
          <p:cNvSpPr/>
          <p:nvPr/>
        </p:nvSpPr>
        <p:spPr>
          <a:xfrm>
            <a:off x="2818061" y="6557963"/>
            <a:ext cx="49812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Qua</a:t>
            </a:r>
            <a:endParaRPr lang="en-US" sz="713" dirty="0"/>
          </a:p>
        </p:txBody>
      </p:sp>
      <p:sp>
        <p:nvSpPr>
          <p:cNvPr id="41" name="Text 39"/>
          <p:cNvSpPr/>
          <p:nvPr/>
        </p:nvSpPr>
        <p:spPr>
          <a:xfrm>
            <a:off x="3306663" y="6557963"/>
            <a:ext cx="49797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Qui</a:t>
            </a:r>
            <a:endParaRPr lang="en-US" sz="713" dirty="0"/>
          </a:p>
        </p:txBody>
      </p:sp>
      <p:sp>
        <p:nvSpPr>
          <p:cNvPr id="42" name="Text 40"/>
          <p:cNvSpPr/>
          <p:nvPr/>
        </p:nvSpPr>
        <p:spPr>
          <a:xfrm>
            <a:off x="3795117" y="6557963"/>
            <a:ext cx="49797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Sex</a:t>
            </a:r>
            <a:endParaRPr lang="en-US" sz="713" dirty="0"/>
          </a:p>
        </p:txBody>
      </p:sp>
      <p:sp>
        <p:nvSpPr>
          <p:cNvPr id="43" name="Text 41"/>
          <p:cNvSpPr/>
          <p:nvPr/>
        </p:nvSpPr>
        <p:spPr>
          <a:xfrm>
            <a:off x="4283571" y="6557963"/>
            <a:ext cx="49797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Sáb</a:t>
            </a:r>
            <a:endParaRPr lang="en-US" sz="713" dirty="0"/>
          </a:p>
        </p:txBody>
      </p:sp>
      <p:sp>
        <p:nvSpPr>
          <p:cNvPr id="44" name="Shape 42"/>
          <p:cNvSpPr/>
          <p:nvPr/>
        </p:nvSpPr>
        <p:spPr>
          <a:xfrm>
            <a:off x="1209675" y="6977063"/>
            <a:ext cx="3714750" cy="1835944"/>
          </a:xfrm>
          <a:prstGeom prst="roundRect">
            <a:avLst>
              <a:gd name="adj" fmla="val 11414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90650" y="7158038"/>
            <a:ext cx="36880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Frequência fora da meta</a:t>
            </a:r>
            <a:endParaRPr lang="en-US" sz="1013" dirty="0"/>
          </a:p>
        </p:txBody>
      </p:sp>
      <p:sp>
        <p:nvSpPr>
          <p:cNvPr id="46" name="Shape 44"/>
          <p:cNvSpPr/>
          <p:nvPr/>
        </p:nvSpPr>
        <p:spPr>
          <a:xfrm>
            <a:off x="1390650" y="7453312"/>
            <a:ext cx="3352800" cy="541734"/>
          </a:xfrm>
          <a:prstGeom prst="roundRect">
            <a:avLst>
              <a:gd name="adj" fmla="val 22857"/>
            </a:avLst>
          </a:prstGeom>
          <a:solidFill>
            <a:srgbClr val="1B2539"/>
          </a:solidFill>
          <a:ln/>
        </p:spPr>
      </p:sp>
      <p:sp>
        <p:nvSpPr>
          <p:cNvPr id="47" name="Text 45"/>
          <p:cNvSpPr/>
          <p:nvPr/>
        </p:nvSpPr>
        <p:spPr>
          <a:xfrm>
            <a:off x="1514475" y="7595592"/>
            <a:ext cx="5334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806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64%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2085975" y="7567612"/>
            <a:ext cx="2787015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265"/>
              </a:lnSpc>
              <a:buNone/>
            </a:pPr>
            <a:r>
              <a:rPr lang="en-US" sz="938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dos dias com proteína abaixo da meta</a:t>
            </a:r>
            <a:endParaRPr lang="en-US" sz="938" dirty="0"/>
          </a:p>
        </p:txBody>
      </p:sp>
      <p:sp>
        <p:nvSpPr>
          <p:cNvPr id="49" name="Text 47"/>
          <p:cNvSpPr/>
          <p:nvPr/>
        </p:nvSpPr>
        <p:spPr>
          <a:xfrm>
            <a:off x="2085975" y="7756922"/>
            <a:ext cx="278701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DE 25 DIAS REGISTRADOS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1390650" y="8090297"/>
            <a:ext cx="3352800" cy="541734"/>
          </a:xfrm>
          <a:prstGeom prst="roundRect">
            <a:avLst>
              <a:gd name="adj" fmla="val 22857"/>
            </a:avLst>
          </a:prstGeom>
          <a:solidFill>
            <a:srgbClr val="1B2539"/>
          </a:solidFill>
          <a:ln/>
        </p:spPr>
      </p:sp>
      <p:sp>
        <p:nvSpPr>
          <p:cNvPr id="51" name="Text 49"/>
          <p:cNvSpPr/>
          <p:nvPr/>
        </p:nvSpPr>
        <p:spPr>
          <a:xfrm>
            <a:off x="1514475" y="8232577"/>
            <a:ext cx="5334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5B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38%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2085975" y="8204597"/>
            <a:ext cx="2787015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265"/>
              </a:lnSpc>
              <a:buNone/>
            </a:pPr>
            <a:r>
              <a:rPr lang="en-US" sz="938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dos dias com carboidratos acima da meta</a:t>
            </a:r>
            <a:endParaRPr lang="en-US" sz="938" dirty="0"/>
          </a:p>
        </p:txBody>
      </p:sp>
      <p:sp>
        <p:nvSpPr>
          <p:cNvPr id="53" name="Text 51"/>
          <p:cNvSpPr/>
          <p:nvPr/>
        </p:nvSpPr>
        <p:spPr>
          <a:xfrm>
            <a:off x="2085975" y="8393906"/>
            <a:ext cx="278701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 DE 24 DIAS REGISTRADOS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753100" y="3982343"/>
            <a:ext cx="72923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TELA 03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5753100" y="4391918"/>
            <a:ext cx="729234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731"/>
              </a:lnSpc>
              <a:buNone/>
            </a:pPr>
            <a:r>
              <a:rPr lang="en-US" sz="5700" b="1" spc="-199" kern="0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Padrões</a:t>
            </a:r>
            <a:endParaRPr lang="en-US" sz="5700" dirty="0"/>
          </a:p>
        </p:txBody>
      </p:sp>
      <p:sp>
        <p:nvSpPr>
          <p:cNvPr id="56" name="Text 54"/>
          <p:cNvSpPr/>
          <p:nvPr/>
        </p:nvSpPr>
        <p:spPr>
          <a:xfrm>
            <a:off x="5753100" y="5475833"/>
            <a:ext cx="627888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17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Toda conclusão é auditável: um toque abre a metodologia que a produziu.</a:t>
            </a:r>
            <a:endParaRPr lang="en-US" sz="2175" dirty="0"/>
          </a:p>
        </p:txBody>
      </p:sp>
      <p:sp>
        <p:nvSpPr>
          <p:cNvPr id="57" name="Shape 55"/>
          <p:cNvSpPr/>
          <p:nvPr/>
        </p:nvSpPr>
        <p:spPr>
          <a:xfrm>
            <a:off x="13049250" y="3157538"/>
            <a:ext cx="4191000" cy="3971925"/>
          </a:xfrm>
          <a:prstGeom prst="roundRect">
            <a:avLst>
              <a:gd name="adj" fmla="val 6235"/>
            </a:avLst>
          </a:prstGeom>
          <a:solidFill>
            <a:srgbClr val="131B2B"/>
          </a:solidFill>
          <a:ln w="9525">
            <a:solidFill>
              <a:srgbClr val="FFFFFF">
                <a:alpha val="13000"/>
              </a:srgbClr>
            </a:solidFill>
            <a:prstDash val="solid"/>
          </a:ln>
          <a:effectLst>
            <a:outerShdw sx="100000" sy="100000" kx="0" ky="0" algn="bl" rotWithShape="0" blurRad="857250" dist="285750" dir="5400000">
              <a:srgbClr val="000000">
                <a:alpha val="5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14963775" y="3414713"/>
            <a:ext cx="3619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3287375" y="3643313"/>
            <a:ext cx="40862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Sua maior média calórica acontece aos sábados.</a:t>
            </a:r>
            <a:endParaRPr lang="en-US" sz="1125" dirty="0"/>
          </a:p>
        </p:txBody>
      </p:sp>
      <p:sp>
        <p:nvSpPr>
          <p:cNvPr id="60" name="Text 58"/>
          <p:cNvSpPr/>
          <p:nvPr/>
        </p:nvSpPr>
        <p:spPr>
          <a:xfrm>
            <a:off x="13287375" y="4052888"/>
            <a:ext cx="408622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0" kern="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JANELA ANALISADA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13287375" y="4214813"/>
            <a:ext cx="40862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28/06 a 25/07 (4 semanas)</a:t>
            </a:r>
            <a:endParaRPr lang="en-US" sz="938" dirty="0"/>
          </a:p>
        </p:txBody>
      </p:sp>
      <p:sp>
        <p:nvSpPr>
          <p:cNvPr id="62" name="Text 60"/>
          <p:cNvSpPr/>
          <p:nvPr/>
        </p:nvSpPr>
        <p:spPr>
          <a:xfrm>
            <a:off x="13287375" y="4529138"/>
            <a:ext cx="408622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0" kern="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DIAS REGISTRADOS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3287375" y="4691063"/>
            <a:ext cx="408622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 dias registrados · 4 sábados</a:t>
            </a:r>
            <a:endParaRPr lang="en-US" sz="938" dirty="0"/>
          </a:p>
        </p:txBody>
      </p:sp>
      <p:sp>
        <p:nvSpPr>
          <p:cNvPr id="64" name="Text 62"/>
          <p:cNvSpPr/>
          <p:nvPr/>
        </p:nvSpPr>
        <p:spPr>
          <a:xfrm>
            <a:off x="13287375" y="5005388"/>
            <a:ext cx="408622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0" kern="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REGRA DE CÁLCULO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3287375" y="5167313"/>
            <a:ext cx="382619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938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Média das calorias registradas agrupada por dia da semana, ignorando dias sem registro.</a:t>
            </a:r>
            <a:endParaRPr lang="en-US" sz="938" dirty="0"/>
          </a:p>
        </p:txBody>
      </p:sp>
      <p:sp>
        <p:nvSpPr>
          <p:cNvPr id="66" name="Text 64"/>
          <p:cNvSpPr/>
          <p:nvPr/>
        </p:nvSpPr>
        <p:spPr>
          <a:xfrm>
            <a:off x="13287375" y="5676900"/>
            <a:ext cx="408622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0" kern="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LIMITAÇÃO DO DADO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3287375" y="5838825"/>
            <a:ext cx="382619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294"/>
              </a:lnSpc>
              <a:buNone/>
            </a:pPr>
            <a:r>
              <a:rPr lang="en-US" sz="938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Apenas 4 amostras de sábado. Um único dia atípico desloca a média com facilidade.</a:t>
            </a:r>
            <a:endParaRPr lang="en-US" sz="938" dirty="0"/>
          </a:p>
        </p:txBody>
      </p:sp>
      <p:sp>
        <p:nvSpPr>
          <p:cNvPr id="68" name="Shape 66"/>
          <p:cNvSpPr/>
          <p:nvPr/>
        </p:nvSpPr>
        <p:spPr>
          <a:xfrm>
            <a:off x="13287375" y="6405563"/>
            <a:ext cx="3714750" cy="428625"/>
          </a:xfrm>
          <a:prstGeom prst="roundRect">
            <a:avLst>
              <a:gd name="adj" fmla="val 31111"/>
            </a:avLst>
          </a:prstGeom>
          <a:solidFill>
            <a:srgbClr val="1B2539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365004" y="6538912"/>
            <a:ext cx="355949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38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Fechar</a:t>
            </a:r>
            <a:endParaRPr lang="en-US" sz="93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2679204"/>
            <a:ext cx="5448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TELAS 04 E 05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3088779"/>
            <a:ext cx="5101590" cy="1290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7318"/>
              </a:lnSpc>
              <a:buNone/>
            </a:pPr>
            <a:r>
              <a:rPr lang="en-US" sz="4650" b="1" spc="-163" kern="0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Consistência e Peso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047750" y="4626471"/>
            <a:ext cx="5101590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459"/>
              </a:lnSpc>
              <a:buNone/>
            </a:pPr>
            <a:r>
              <a:rPr lang="en-US" sz="202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Ausência é uma categoria visual própria: quatro estados no calendário, nenhum deles com tom de cobrança.</a:t>
            </a:r>
            <a:endParaRPr lang="en-US" sz="2025" dirty="0"/>
          </a:p>
        </p:txBody>
      </p:sp>
      <p:sp>
        <p:nvSpPr>
          <p:cNvPr id="5" name="Shape 3"/>
          <p:cNvSpPr/>
          <p:nvPr/>
        </p:nvSpPr>
        <p:spPr>
          <a:xfrm>
            <a:off x="1047750" y="6069509"/>
            <a:ext cx="4953000" cy="1538288"/>
          </a:xfrm>
          <a:prstGeom prst="roundRect">
            <a:avLst>
              <a:gd name="adj" fmla="val 13622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3975" y="6345734"/>
            <a:ext cx="4532567" cy="1023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13"/>
              </a:lnSpc>
              <a:buNone/>
            </a:pPr>
            <a:r>
              <a:rPr lang="en-US" sz="172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“Os gráficos aparecem juntos para facilitar a observação. Isso não significa que uma variação causou a outra.”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6572250" y="2053977"/>
            <a:ext cx="4038600" cy="6178897"/>
          </a:xfrm>
          <a:prstGeom prst="roundRect">
            <a:avLst>
              <a:gd name="adj" fmla="val 8962"/>
            </a:avLst>
          </a:prstGeom>
          <a:solidFill>
            <a:srgbClr val="0A0F1A"/>
          </a:solidFill>
          <a:ln w="9525">
            <a:solidFill>
              <a:srgbClr val="FFFFFF">
                <a:alpha val="13000"/>
              </a:srgbClr>
            </a:solidFill>
            <a:prstDash val="solid"/>
          </a:ln>
          <a:effectLst>
            <a:outerShdw sx="100000" sy="100000" kx="0" ky="0" algn="bl" rotWithShape="0" blurRad="857250" dist="285750" dir="5400000">
              <a:srgbClr val="000000">
                <a:alpha val="5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34175" y="2254002"/>
            <a:ext cx="1809750" cy="952500"/>
          </a:xfrm>
          <a:prstGeom prst="roundRect">
            <a:avLst>
              <a:gd name="adj" fmla="val 18000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86575" y="2406402"/>
            <a:ext cx="165544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SEQUÊNCIA ATUAL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886575" y="2577852"/>
            <a:ext cx="16554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886575" y="2920752"/>
            <a:ext cx="16554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dias</a:t>
            </a:r>
            <a:endParaRPr lang="en-US" sz="788" dirty="0"/>
          </a:p>
        </p:txBody>
      </p:sp>
      <p:sp>
        <p:nvSpPr>
          <p:cNvPr id="12" name="Shape 10"/>
          <p:cNvSpPr/>
          <p:nvPr/>
        </p:nvSpPr>
        <p:spPr>
          <a:xfrm>
            <a:off x="8639175" y="2254002"/>
            <a:ext cx="1809750" cy="952500"/>
          </a:xfrm>
          <a:prstGeom prst="roundRect">
            <a:avLst>
              <a:gd name="adj" fmla="val 18000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91575" y="2406402"/>
            <a:ext cx="165544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MAIOR SEQUÊNCIA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791575" y="2577852"/>
            <a:ext cx="16554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791575" y="2920752"/>
            <a:ext cx="165544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dias · junho</a:t>
            </a:r>
            <a:endParaRPr lang="en-US" sz="788" dirty="0"/>
          </a:p>
        </p:txBody>
      </p:sp>
      <p:sp>
        <p:nvSpPr>
          <p:cNvPr id="16" name="Shape 14"/>
          <p:cNvSpPr/>
          <p:nvPr/>
        </p:nvSpPr>
        <p:spPr>
          <a:xfrm>
            <a:off x="6734175" y="3320802"/>
            <a:ext cx="3714750" cy="3626197"/>
          </a:xfrm>
          <a:prstGeom prst="roundRect">
            <a:avLst>
              <a:gd name="adj" fmla="val 5779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15150" y="3501777"/>
            <a:ext cx="76036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Julho 2026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8467725" y="3530352"/>
            <a:ext cx="198024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 REGISTRADOS · 25 DECORRIDOS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6877050" y="3806577"/>
            <a:ext cx="50616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</a:t>
            </a:r>
            <a:endParaRPr lang="en-US" sz="713" dirty="0"/>
          </a:p>
        </p:txBody>
      </p:sp>
      <p:sp>
        <p:nvSpPr>
          <p:cNvPr id="20" name="Text 18"/>
          <p:cNvSpPr/>
          <p:nvPr/>
        </p:nvSpPr>
        <p:spPr>
          <a:xfrm>
            <a:off x="7364164" y="3806577"/>
            <a:ext cx="50616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</a:t>
            </a:r>
            <a:endParaRPr lang="en-US" sz="713" dirty="0"/>
          </a:p>
        </p:txBody>
      </p:sp>
      <p:sp>
        <p:nvSpPr>
          <p:cNvPr id="21" name="Text 19"/>
          <p:cNvSpPr/>
          <p:nvPr/>
        </p:nvSpPr>
        <p:spPr>
          <a:xfrm>
            <a:off x="7851279" y="3806577"/>
            <a:ext cx="50616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</a:t>
            </a:r>
            <a:endParaRPr lang="en-US" sz="713" dirty="0"/>
          </a:p>
        </p:txBody>
      </p:sp>
      <p:sp>
        <p:nvSpPr>
          <p:cNvPr id="22" name="Text 20"/>
          <p:cNvSpPr/>
          <p:nvPr/>
        </p:nvSpPr>
        <p:spPr>
          <a:xfrm>
            <a:off x="8338393" y="3806577"/>
            <a:ext cx="50616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</a:t>
            </a:r>
            <a:endParaRPr lang="en-US" sz="713" dirty="0"/>
          </a:p>
        </p:txBody>
      </p:sp>
      <p:sp>
        <p:nvSpPr>
          <p:cNvPr id="23" name="Text 21"/>
          <p:cNvSpPr/>
          <p:nvPr/>
        </p:nvSpPr>
        <p:spPr>
          <a:xfrm>
            <a:off x="8825508" y="3806577"/>
            <a:ext cx="50616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</a:t>
            </a:r>
            <a:endParaRPr lang="en-US" sz="713" dirty="0"/>
          </a:p>
        </p:txBody>
      </p:sp>
      <p:sp>
        <p:nvSpPr>
          <p:cNvPr id="24" name="Text 22"/>
          <p:cNvSpPr/>
          <p:nvPr/>
        </p:nvSpPr>
        <p:spPr>
          <a:xfrm>
            <a:off x="9312622" y="3806577"/>
            <a:ext cx="50616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</a:t>
            </a:r>
            <a:endParaRPr lang="en-US" sz="713" dirty="0"/>
          </a:p>
        </p:txBody>
      </p:sp>
      <p:sp>
        <p:nvSpPr>
          <p:cNvPr id="25" name="Text 23"/>
          <p:cNvSpPr/>
          <p:nvPr/>
        </p:nvSpPr>
        <p:spPr>
          <a:xfrm>
            <a:off x="9799737" y="3806577"/>
            <a:ext cx="50616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13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</a:t>
            </a:r>
            <a:endParaRPr lang="en-US" sz="713" dirty="0"/>
          </a:p>
        </p:txBody>
      </p:sp>
      <p:sp>
        <p:nvSpPr>
          <p:cNvPr id="26" name="Shape 24"/>
          <p:cNvSpPr/>
          <p:nvPr/>
        </p:nvSpPr>
        <p:spPr>
          <a:xfrm>
            <a:off x="8376493" y="3987552"/>
            <a:ext cx="429964" cy="429964"/>
          </a:xfrm>
          <a:prstGeom prst="roundRect">
            <a:avLst>
              <a:gd name="adj" fmla="val 19938"/>
            </a:avLst>
          </a:prstGeom>
          <a:solidFill>
            <a:srgbClr val="84E0A8"/>
          </a:solidFill>
          <a:ln/>
        </p:spPr>
      </p:sp>
      <p:sp>
        <p:nvSpPr>
          <p:cNvPr id="27" name="Text 25"/>
          <p:cNvSpPr/>
          <p:nvPr/>
        </p:nvSpPr>
        <p:spPr>
          <a:xfrm>
            <a:off x="8558957" y="4131022"/>
            <a:ext cx="1412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81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8863608" y="3987552"/>
            <a:ext cx="429964" cy="429964"/>
          </a:xfrm>
          <a:prstGeom prst="roundRect">
            <a:avLst>
              <a:gd name="adj" fmla="val 19938"/>
            </a:avLst>
          </a:prstGeom>
          <a:solidFill>
            <a:srgbClr val="84E0A8"/>
          </a:solidFill>
          <a:ln/>
        </p:spPr>
      </p:sp>
      <p:sp>
        <p:nvSpPr>
          <p:cNvPr id="29" name="Text 27"/>
          <p:cNvSpPr/>
          <p:nvPr/>
        </p:nvSpPr>
        <p:spPr>
          <a:xfrm>
            <a:off x="9046071" y="4131022"/>
            <a:ext cx="1412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81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9350722" y="3987552"/>
            <a:ext cx="429964" cy="429964"/>
          </a:xfrm>
          <a:prstGeom prst="roundRect">
            <a:avLst>
              <a:gd name="adj" fmla="val 19938"/>
            </a:avLst>
          </a:prstGeom>
          <a:solidFill>
            <a:srgbClr val="1B2539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33186" y="4131022"/>
            <a:ext cx="1412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825" dirty="0"/>
          </a:p>
        </p:txBody>
      </p:sp>
      <p:sp>
        <p:nvSpPr>
          <p:cNvPr id="32" name="Shape 30"/>
          <p:cNvSpPr/>
          <p:nvPr/>
        </p:nvSpPr>
        <p:spPr>
          <a:xfrm>
            <a:off x="9837837" y="3987552"/>
            <a:ext cx="429964" cy="429964"/>
          </a:xfrm>
          <a:prstGeom prst="roundRect">
            <a:avLst>
              <a:gd name="adj" fmla="val 19938"/>
            </a:avLst>
          </a:prstGeom>
          <a:solidFill>
            <a:srgbClr val="84E0A8"/>
          </a:solidFill>
          <a:ln/>
        </p:spPr>
      </p:sp>
      <p:sp>
        <p:nvSpPr>
          <p:cNvPr id="33" name="Text 31"/>
          <p:cNvSpPr/>
          <p:nvPr/>
        </p:nvSpPr>
        <p:spPr>
          <a:xfrm>
            <a:off x="10020300" y="4131022"/>
            <a:ext cx="1412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81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6915150" y="4474666"/>
            <a:ext cx="429964" cy="429964"/>
          </a:xfrm>
          <a:prstGeom prst="roundRect">
            <a:avLst>
              <a:gd name="adj" fmla="val 19938"/>
            </a:avLst>
          </a:prstGeom>
          <a:solidFill>
            <a:srgbClr val="84E0A8"/>
          </a:solidFill>
          <a:ln/>
        </p:spPr>
      </p:sp>
      <p:sp>
        <p:nvSpPr>
          <p:cNvPr id="35" name="Text 33"/>
          <p:cNvSpPr/>
          <p:nvPr/>
        </p:nvSpPr>
        <p:spPr>
          <a:xfrm>
            <a:off x="7097613" y="4618137"/>
            <a:ext cx="1412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81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825" dirty="0"/>
          </a:p>
        </p:txBody>
      </p:sp>
      <p:sp>
        <p:nvSpPr>
          <p:cNvPr id="36" name="Shape 34"/>
          <p:cNvSpPr/>
          <p:nvPr/>
        </p:nvSpPr>
        <p:spPr>
          <a:xfrm>
            <a:off x="7402264" y="4474666"/>
            <a:ext cx="429964" cy="429964"/>
          </a:xfrm>
          <a:prstGeom prst="roundRect">
            <a:avLst>
              <a:gd name="adj" fmla="val 19938"/>
            </a:avLst>
          </a:prstGeom>
          <a:ln w="9525">
            <a:solidFill>
              <a:srgbClr val="E5B15C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7584579" y="4618137"/>
            <a:ext cx="14138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5B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</a:t>
            </a:r>
            <a:endParaRPr lang="en-US" sz="825" dirty="0"/>
          </a:p>
        </p:txBody>
      </p:sp>
      <p:sp>
        <p:nvSpPr>
          <p:cNvPr id="38" name="Shape 36"/>
          <p:cNvSpPr/>
          <p:nvPr/>
        </p:nvSpPr>
        <p:spPr>
          <a:xfrm>
            <a:off x="7889379" y="4474666"/>
            <a:ext cx="429964" cy="429964"/>
          </a:xfrm>
          <a:prstGeom prst="roundRect">
            <a:avLst>
              <a:gd name="adj" fmla="val 19938"/>
            </a:avLst>
          </a:prstGeom>
          <a:solidFill>
            <a:srgbClr val="84E0A8"/>
          </a:solidFill>
          <a:ln/>
        </p:spPr>
      </p:sp>
      <p:sp>
        <p:nvSpPr>
          <p:cNvPr id="39" name="Text 37"/>
          <p:cNvSpPr/>
          <p:nvPr/>
        </p:nvSpPr>
        <p:spPr>
          <a:xfrm>
            <a:off x="8071842" y="4618137"/>
            <a:ext cx="1412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81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8376493" y="4474666"/>
            <a:ext cx="429964" cy="429964"/>
          </a:xfrm>
          <a:prstGeom prst="roundRect">
            <a:avLst>
              <a:gd name="adj" fmla="val 19938"/>
            </a:avLst>
          </a:prstGeom>
          <a:solidFill>
            <a:srgbClr val="84E0A8"/>
          </a:solidFill>
          <a:ln/>
        </p:spPr>
      </p:sp>
      <p:sp>
        <p:nvSpPr>
          <p:cNvPr id="41" name="Text 39"/>
          <p:cNvSpPr/>
          <p:nvPr/>
        </p:nvSpPr>
        <p:spPr>
          <a:xfrm>
            <a:off x="8558957" y="4618137"/>
            <a:ext cx="1412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81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</a:t>
            </a:r>
            <a:endParaRPr lang="en-US" sz="825" dirty="0"/>
          </a:p>
        </p:txBody>
      </p:sp>
      <p:sp>
        <p:nvSpPr>
          <p:cNvPr id="42" name="Shape 40"/>
          <p:cNvSpPr/>
          <p:nvPr/>
        </p:nvSpPr>
        <p:spPr>
          <a:xfrm>
            <a:off x="8863608" y="4474666"/>
            <a:ext cx="429964" cy="429964"/>
          </a:xfrm>
          <a:prstGeom prst="roundRect">
            <a:avLst>
              <a:gd name="adj" fmla="val 19938"/>
            </a:avLst>
          </a:prstGeom>
          <a:ln w="9525">
            <a:solidFill>
              <a:srgbClr val="E5B15C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9046071" y="4618137"/>
            <a:ext cx="1412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5B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</a:t>
            </a:r>
            <a:endParaRPr lang="en-US" sz="825" dirty="0"/>
          </a:p>
        </p:txBody>
      </p:sp>
      <p:sp>
        <p:nvSpPr>
          <p:cNvPr id="44" name="Shape 42"/>
          <p:cNvSpPr/>
          <p:nvPr/>
        </p:nvSpPr>
        <p:spPr>
          <a:xfrm>
            <a:off x="9350722" y="4474666"/>
            <a:ext cx="429964" cy="429964"/>
          </a:xfrm>
          <a:prstGeom prst="roundRect">
            <a:avLst>
              <a:gd name="adj" fmla="val 19938"/>
            </a:avLst>
          </a:prstGeom>
          <a:solidFill>
            <a:srgbClr val="84E0A8"/>
          </a:solidFill>
          <a:ln/>
        </p:spPr>
      </p:sp>
      <p:sp>
        <p:nvSpPr>
          <p:cNvPr id="45" name="Text 43"/>
          <p:cNvSpPr/>
          <p:nvPr/>
        </p:nvSpPr>
        <p:spPr>
          <a:xfrm>
            <a:off x="9500741" y="4618137"/>
            <a:ext cx="2061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81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825" dirty="0"/>
          </a:p>
        </p:txBody>
      </p:sp>
      <p:sp>
        <p:nvSpPr>
          <p:cNvPr id="46" name="Shape 44"/>
          <p:cNvSpPr/>
          <p:nvPr/>
        </p:nvSpPr>
        <p:spPr>
          <a:xfrm>
            <a:off x="9837837" y="4474666"/>
            <a:ext cx="429964" cy="429964"/>
          </a:xfrm>
          <a:prstGeom prst="roundRect">
            <a:avLst>
              <a:gd name="adj" fmla="val 19938"/>
            </a:avLst>
          </a:prstGeom>
          <a:solidFill>
            <a:srgbClr val="1B2539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987855" y="4618137"/>
            <a:ext cx="2061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825" dirty="0"/>
          </a:p>
        </p:txBody>
      </p:sp>
      <p:sp>
        <p:nvSpPr>
          <p:cNvPr id="48" name="Shape 46"/>
          <p:cNvSpPr/>
          <p:nvPr/>
        </p:nvSpPr>
        <p:spPr>
          <a:xfrm>
            <a:off x="6915150" y="4961781"/>
            <a:ext cx="429964" cy="429964"/>
          </a:xfrm>
          <a:prstGeom prst="roundRect">
            <a:avLst>
              <a:gd name="adj" fmla="val 19938"/>
            </a:avLst>
          </a:prstGeom>
          <a:solidFill>
            <a:srgbClr val="84E0A8"/>
          </a:solidFill>
          <a:ln/>
        </p:spPr>
      </p:sp>
      <p:sp>
        <p:nvSpPr>
          <p:cNvPr id="49" name="Text 47"/>
          <p:cNvSpPr/>
          <p:nvPr/>
        </p:nvSpPr>
        <p:spPr>
          <a:xfrm>
            <a:off x="7065169" y="5105251"/>
            <a:ext cx="2061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81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</a:t>
            </a:r>
            <a:endParaRPr lang="en-US" sz="825" dirty="0"/>
          </a:p>
        </p:txBody>
      </p:sp>
      <p:sp>
        <p:nvSpPr>
          <p:cNvPr id="50" name="Shape 48"/>
          <p:cNvSpPr/>
          <p:nvPr/>
        </p:nvSpPr>
        <p:spPr>
          <a:xfrm>
            <a:off x="7402264" y="4961781"/>
            <a:ext cx="429964" cy="429964"/>
          </a:xfrm>
          <a:prstGeom prst="roundRect">
            <a:avLst>
              <a:gd name="adj" fmla="val 19938"/>
            </a:avLst>
          </a:prstGeom>
          <a:solidFill>
            <a:srgbClr val="84E0A8"/>
          </a:solidFill>
          <a:ln/>
        </p:spPr>
      </p:sp>
      <p:sp>
        <p:nvSpPr>
          <p:cNvPr id="51" name="Text 49"/>
          <p:cNvSpPr/>
          <p:nvPr/>
        </p:nvSpPr>
        <p:spPr>
          <a:xfrm>
            <a:off x="7552283" y="5105251"/>
            <a:ext cx="2061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81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</a:t>
            </a:r>
            <a:endParaRPr lang="en-US" sz="825" dirty="0"/>
          </a:p>
        </p:txBody>
      </p:sp>
      <p:sp>
        <p:nvSpPr>
          <p:cNvPr id="52" name="Shape 50"/>
          <p:cNvSpPr/>
          <p:nvPr/>
        </p:nvSpPr>
        <p:spPr>
          <a:xfrm>
            <a:off x="7889379" y="4961781"/>
            <a:ext cx="429964" cy="429964"/>
          </a:xfrm>
          <a:prstGeom prst="roundRect">
            <a:avLst>
              <a:gd name="adj" fmla="val 19938"/>
            </a:avLst>
          </a:prstGeom>
          <a:ln w="9525">
            <a:solidFill>
              <a:srgbClr val="E5B15C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8039398" y="5105251"/>
            <a:ext cx="2061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5B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</a:t>
            </a:r>
            <a:endParaRPr lang="en-US" sz="825" dirty="0"/>
          </a:p>
        </p:txBody>
      </p:sp>
      <p:sp>
        <p:nvSpPr>
          <p:cNvPr id="54" name="Shape 52"/>
          <p:cNvSpPr/>
          <p:nvPr/>
        </p:nvSpPr>
        <p:spPr>
          <a:xfrm>
            <a:off x="8376493" y="4961781"/>
            <a:ext cx="429964" cy="429964"/>
          </a:xfrm>
          <a:prstGeom prst="roundRect">
            <a:avLst>
              <a:gd name="adj" fmla="val 19938"/>
            </a:avLst>
          </a:prstGeom>
          <a:solidFill>
            <a:srgbClr val="84E0A8"/>
          </a:solidFill>
          <a:ln/>
        </p:spPr>
      </p:sp>
      <p:sp>
        <p:nvSpPr>
          <p:cNvPr id="55" name="Text 53"/>
          <p:cNvSpPr/>
          <p:nvPr/>
        </p:nvSpPr>
        <p:spPr>
          <a:xfrm>
            <a:off x="8526512" y="5105251"/>
            <a:ext cx="2061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81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</a:t>
            </a:r>
            <a:endParaRPr lang="en-US" sz="825" dirty="0"/>
          </a:p>
        </p:txBody>
      </p:sp>
      <p:sp>
        <p:nvSpPr>
          <p:cNvPr id="56" name="Shape 54"/>
          <p:cNvSpPr/>
          <p:nvPr/>
        </p:nvSpPr>
        <p:spPr>
          <a:xfrm>
            <a:off x="8863608" y="4961781"/>
            <a:ext cx="429964" cy="429964"/>
          </a:xfrm>
          <a:prstGeom prst="roundRect">
            <a:avLst>
              <a:gd name="adj" fmla="val 19938"/>
            </a:avLst>
          </a:prstGeom>
          <a:solidFill>
            <a:srgbClr val="84E0A8"/>
          </a:solidFill>
          <a:ln/>
        </p:spPr>
      </p:sp>
      <p:sp>
        <p:nvSpPr>
          <p:cNvPr id="57" name="Text 55"/>
          <p:cNvSpPr/>
          <p:nvPr/>
        </p:nvSpPr>
        <p:spPr>
          <a:xfrm>
            <a:off x="9013478" y="5105251"/>
            <a:ext cx="2064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81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</a:t>
            </a:r>
            <a:endParaRPr lang="en-US" sz="825" dirty="0"/>
          </a:p>
        </p:txBody>
      </p:sp>
      <p:sp>
        <p:nvSpPr>
          <p:cNvPr id="58" name="Shape 56"/>
          <p:cNvSpPr/>
          <p:nvPr/>
        </p:nvSpPr>
        <p:spPr>
          <a:xfrm>
            <a:off x="9350722" y="4961781"/>
            <a:ext cx="429964" cy="429964"/>
          </a:xfrm>
          <a:prstGeom prst="roundRect">
            <a:avLst>
              <a:gd name="adj" fmla="val 19938"/>
            </a:avLst>
          </a:prstGeom>
          <a:solidFill>
            <a:srgbClr val="1B2539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500741" y="5105251"/>
            <a:ext cx="2061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</a:t>
            </a:r>
            <a:endParaRPr lang="en-US" sz="825" dirty="0"/>
          </a:p>
        </p:txBody>
      </p:sp>
      <p:sp>
        <p:nvSpPr>
          <p:cNvPr id="60" name="Shape 58"/>
          <p:cNvSpPr/>
          <p:nvPr/>
        </p:nvSpPr>
        <p:spPr>
          <a:xfrm>
            <a:off x="9837837" y="4961781"/>
            <a:ext cx="429964" cy="429964"/>
          </a:xfrm>
          <a:prstGeom prst="roundRect">
            <a:avLst>
              <a:gd name="adj" fmla="val 19938"/>
            </a:avLst>
          </a:prstGeom>
          <a:solidFill>
            <a:srgbClr val="84E0A8"/>
          </a:solidFill>
          <a:ln/>
        </p:spPr>
      </p:sp>
      <p:sp>
        <p:nvSpPr>
          <p:cNvPr id="61" name="Text 59"/>
          <p:cNvSpPr/>
          <p:nvPr/>
        </p:nvSpPr>
        <p:spPr>
          <a:xfrm>
            <a:off x="9987855" y="5105251"/>
            <a:ext cx="2061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81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</a:t>
            </a:r>
            <a:endParaRPr lang="en-US" sz="825" dirty="0"/>
          </a:p>
        </p:txBody>
      </p:sp>
      <p:sp>
        <p:nvSpPr>
          <p:cNvPr id="62" name="Shape 60"/>
          <p:cNvSpPr/>
          <p:nvPr/>
        </p:nvSpPr>
        <p:spPr>
          <a:xfrm>
            <a:off x="6915150" y="5448895"/>
            <a:ext cx="429964" cy="429964"/>
          </a:xfrm>
          <a:prstGeom prst="roundRect">
            <a:avLst>
              <a:gd name="adj" fmla="val 19938"/>
            </a:avLst>
          </a:prstGeom>
          <a:ln w="9525">
            <a:solidFill>
              <a:srgbClr val="E5B15C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7065169" y="5592366"/>
            <a:ext cx="2061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5B15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</a:t>
            </a:r>
            <a:endParaRPr lang="en-US" sz="825" dirty="0"/>
          </a:p>
        </p:txBody>
      </p:sp>
      <p:sp>
        <p:nvSpPr>
          <p:cNvPr id="64" name="Shape 62"/>
          <p:cNvSpPr/>
          <p:nvPr/>
        </p:nvSpPr>
        <p:spPr>
          <a:xfrm>
            <a:off x="7402264" y="5448895"/>
            <a:ext cx="429964" cy="429964"/>
          </a:xfrm>
          <a:prstGeom prst="roundRect">
            <a:avLst>
              <a:gd name="adj" fmla="val 19938"/>
            </a:avLst>
          </a:prstGeom>
          <a:solidFill>
            <a:srgbClr val="84E0A8"/>
          </a:solidFill>
          <a:ln/>
        </p:spPr>
      </p:sp>
      <p:sp>
        <p:nvSpPr>
          <p:cNvPr id="65" name="Text 63"/>
          <p:cNvSpPr/>
          <p:nvPr/>
        </p:nvSpPr>
        <p:spPr>
          <a:xfrm>
            <a:off x="7552283" y="5592366"/>
            <a:ext cx="2061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81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</a:t>
            </a:r>
            <a:endParaRPr lang="en-US" sz="825" dirty="0"/>
          </a:p>
        </p:txBody>
      </p:sp>
      <p:sp>
        <p:nvSpPr>
          <p:cNvPr id="66" name="Shape 64"/>
          <p:cNvSpPr/>
          <p:nvPr/>
        </p:nvSpPr>
        <p:spPr>
          <a:xfrm>
            <a:off x="7889379" y="5448895"/>
            <a:ext cx="429964" cy="429964"/>
          </a:xfrm>
          <a:prstGeom prst="roundRect">
            <a:avLst>
              <a:gd name="adj" fmla="val 19938"/>
            </a:avLst>
          </a:prstGeom>
          <a:solidFill>
            <a:srgbClr val="84E0A8"/>
          </a:solidFill>
          <a:ln/>
        </p:spPr>
      </p:sp>
      <p:sp>
        <p:nvSpPr>
          <p:cNvPr id="67" name="Text 65"/>
          <p:cNvSpPr/>
          <p:nvPr/>
        </p:nvSpPr>
        <p:spPr>
          <a:xfrm>
            <a:off x="8039398" y="5592366"/>
            <a:ext cx="2061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81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21</a:t>
            </a:r>
            <a:endParaRPr lang="en-US" sz="825" dirty="0"/>
          </a:p>
        </p:txBody>
      </p:sp>
      <p:sp>
        <p:nvSpPr>
          <p:cNvPr id="68" name="Shape 66"/>
          <p:cNvSpPr/>
          <p:nvPr/>
        </p:nvSpPr>
        <p:spPr>
          <a:xfrm>
            <a:off x="8376493" y="5448895"/>
            <a:ext cx="429964" cy="429964"/>
          </a:xfrm>
          <a:prstGeom prst="roundRect">
            <a:avLst>
              <a:gd name="adj" fmla="val 19938"/>
            </a:avLst>
          </a:prstGeom>
          <a:solidFill>
            <a:srgbClr val="84E0A8"/>
          </a:solidFill>
          <a:ln/>
        </p:spPr>
      </p:sp>
      <p:sp>
        <p:nvSpPr>
          <p:cNvPr id="69" name="Text 67"/>
          <p:cNvSpPr/>
          <p:nvPr/>
        </p:nvSpPr>
        <p:spPr>
          <a:xfrm>
            <a:off x="8526512" y="5592366"/>
            <a:ext cx="2061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81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</a:t>
            </a:r>
            <a:endParaRPr lang="en-US" sz="825" dirty="0"/>
          </a:p>
        </p:txBody>
      </p:sp>
      <p:sp>
        <p:nvSpPr>
          <p:cNvPr id="70" name="Shape 68"/>
          <p:cNvSpPr/>
          <p:nvPr/>
        </p:nvSpPr>
        <p:spPr>
          <a:xfrm>
            <a:off x="8863608" y="5448895"/>
            <a:ext cx="429964" cy="429964"/>
          </a:xfrm>
          <a:prstGeom prst="roundRect">
            <a:avLst>
              <a:gd name="adj" fmla="val 19938"/>
            </a:avLst>
          </a:prstGeom>
          <a:solidFill>
            <a:srgbClr val="84E0A8"/>
          </a:solidFill>
          <a:ln/>
        </p:spPr>
      </p:sp>
      <p:sp>
        <p:nvSpPr>
          <p:cNvPr id="71" name="Text 69"/>
          <p:cNvSpPr/>
          <p:nvPr/>
        </p:nvSpPr>
        <p:spPr>
          <a:xfrm>
            <a:off x="9013627" y="5592366"/>
            <a:ext cx="2061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81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23</a:t>
            </a:r>
            <a:endParaRPr lang="en-US" sz="825" dirty="0"/>
          </a:p>
        </p:txBody>
      </p:sp>
      <p:sp>
        <p:nvSpPr>
          <p:cNvPr id="72" name="Shape 70"/>
          <p:cNvSpPr/>
          <p:nvPr/>
        </p:nvSpPr>
        <p:spPr>
          <a:xfrm>
            <a:off x="9350722" y="5448895"/>
            <a:ext cx="429964" cy="429964"/>
          </a:xfrm>
          <a:prstGeom prst="roundRect">
            <a:avLst>
              <a:gd name="adj" fmla="val 19938"/>
            </a:avLst>
          </a:prstGeom>
          <a:solidFill>
            <a:srgbClr val="84E0A8"/>
          </a:solidFill>
          <a:ln/>
        </p:spPr>
      </p:sp>
      <p:sp>
        <p:nvSpPr>
          <p:cNvPr id="73" name="Text 71"/>
          <p:cNvSpPr/>
          <p:nvPr/>
        </p:nvSpPr>
        <p:spPr>
          <a:xfrm>
            <a:off x="9500741" y="5592366"/>
            <a:ext cx="2061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81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</a:t>
            </a:r>
            <a:endParaRPr lang="en-US" sz="825" dirty="0"/>
          </a:p>
        </p:txBody>
      </p:sp>
      <p:sp>
        <p:nvSpPr>
          <p:cNvPr id="74" name="Shape 72"/>
          <p:cNvSpPr/>
          <p:nvPr/>
        </p:nvSpPr>
        <p:spPr>
          <a:xfrm>
            <a:off x="9837837" y="5448895"/>
            <a:ext cx="429964" cy="429964"/>
          </a:xfrm>
          <a:prstGeom prst="roundRect">
            <a:avLst>
              <a:gd name="adj" fmla="val 19938"/>
            </a:avLst>
          </a:prstGeom>
          <a:solidFill>
            <a:srgbClr val="84E0A8"/>
          </a:solidFill>
          <a:ln/>
        </p:spPr>
      </p:sp>
      <p:sp>
        <p:nvSpPr>
          <p:cNvPr id="75" name="Text 73"/>
          <p:cNvSpPr/>
          <p:nvPr/>
        </p:nvSpPr>
        <p:spPr>
          <a:xfrm>
            <a:off x="9987855" y="5592366"/>
            <a:ext cx="2061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81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</a:t>
            </a:r>
            <a:endParaRPr lang="en-US" sz="825" dirty="0"/>
          </a:p>
        </p:txBody>
      </p:sp>
      <p:sp>
        <p:nvSpPr>
          <p:cNvPr id="76" name="Shape 74"/>
          <p:cNvSpPr/>
          <p:nvPr/>
        </p:nvSpPr>
        <p:spPr>
          <a:xfrm>
            <a:off x="6915150" y="5936010"/>
            <a:ext cx="429964" cy="429964"/>
          </a:xfrm>
          <a:prstGeom prst="roundRect">
            <a:avLst>
              <a:gd name="adj" fmla="val 19938"/>
            </a:avLst>
          </a:prstGeom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65020" y="6079480"/>
            <a:ext cx="2064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26</a:t>
            </a:r>
            <a:endParaRPr lang="en-US" sz="825" dirty="0"/>
          </a:p>
        </p:txBody>
      </p:sp>
      <p:sp>
        <p:nvSpPr>
          <p:cNvPr id="78" name="Shape 76"/>
          <p:cNvSpPr/>
          <p:nvPr/>
        </p:nvSpPr>
        <p:spPr>
          <a:xfrm>
            <a:off x="7402264" y="5936010"/>
            <a:ext cx="429964" cy="429964"/>
          </a:xfrm>
          <a:prstGeom prst="roundRect">
            <a:avLst>
              <a:gd name="adj" fmla="val 19938"/>
            </a:avLst>
          </a:prstGeom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552283" y="6079480"/>
            <a:ext cx="2061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27</a:t>
            </a:r>
            <a:endParaRPr lang="en-US" sz="825" dirty="0"/>
          </a:p>
        </p:txBody>
      </p:sp>
      <p:sp>
        <p:nvSpPr>
          <p:cNvPr id="80" name="Shape 78"/>
          <p:cNvSpPr/>
          <p:nvPr/>
        </p:nvSpPr>
        <p:spPr>
          <a:xfrm>
            <a:off x="7889379" y="5936010"/>
            <a:ext cx="429964" cy="429964"/>
          </a:xfrm>
          <a:prstGeom prst="roundRect">
            <a:avLst>
              <a:gd name="adj" fmla="val 19938"/>
            </a:avLst>
          </a:prstGeom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039398" y="6079480"/>
            <a:ext cx="2061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28</a:t>
            </a:r>
            <a:endParaRPr lang="en-US" sz="825" dirty="0"/>
          </a:p>
        </p:txBody>
      </p:sp>
      <p:sp>
        <p:nvSpPr>
          <p:cNvPr id="82" name="Shape 80"/>
          <p:cNvSpPr/>
          <p:nvPr/>
        </p:nvSpPr>
        <p:spPr>
          <a:xfrm>
            <a:off x="8376493" y="5936010"/>
            <a:ext cx="429964" cy="429964"/>
          </a:xfrm>
          <a:prstGeom prst="roundRect">
            <a:avLst>
              <a:gd name="adj" fmla="val 19938"/>
            </a:avLst>
          </a:prstGeom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526512" y="6079480"/>
            <a:ext cx="2061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29</a:t>
            </a:r>
            <a:endParaRPr lang="en-US" sz="825" dirty="0"/>
          </a:p>
        </p:txBody>
      </p:sp>
      <p:sp>
        <p:nvSpPr>
          <p:cNvPr id="84" name="Shape 82"/>
          <p:cNvSpPr/>
          <p:nvPr/>
        </p:nvSpPr>
        <p:spPr>
          <a:xfrm>
            <a:off x="8863608" y="5936010"/>
            <a:ext cx="429964" cy="429964"/>
          </a:xfrm>
          <a:prstGeom prst="roundRect">
            <a:avLst>
              <a:gd name="adj" fmla="val 19938"/>
            </a:avLst>
          </a:prstGeom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013627" y="6079480"/>
            <a:ext cx="2061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</a:t>
            </a:r>
            <a:endParaRPr lang="en-US" sz="825" dirty="0"/>
          </a:p>
        </p:txBody>
      </p:sp>
      <p:sp>
        <p:nvSpPr>
          <p:cNvPr id="86" name="Shape 84"/>
          <p:cNvSpPr/>
          <p:nvPr/>
        </p:nvSpPr>
        <p:spPr>
          <a:xfrm>
            <a:off x="9350722" y="5936010"/>
            <a:ext cx="429964" cy="429964"/>
          </a:xfrm>
          <a:prstGeom prst="roundRect">
            <a:avLst>
              <a:gd name="adj" fmla="val 19938"/>
            </a:avLst>
          </a:prstGeom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500741" y="6079480"/>
            <a:ext cx="2061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31</a:t>
            </a:r>
            <a:endParaRPr lang="en-US" sz="825" dirty="0"/>
          </a:p>
        </p:txBody>
      </p:sp>
      <p:sp>
        <p:nvSpPr>
          <p:cNvPr id="88" name="Shape 86"/>
          <p:cNvSpPr/>
          <p:nvPr/>
        </p:nvSpPr>
        <p:spPr>
          <a:xfrm>
            <a:off x="6915150" y="6499324"/>
            <a:ext cx="33528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6915150" y="6646962"/>
            <a:ext cx="104775" cy="104775"/>
          </a:xfrm>
          <a:prstGeom prst="roundRect">
            <a:avLst>
              <a:gd name="adj" fmla="val 36364"/>
            </a:avLst>
          </a:prstGeom>
          <a:solidFill>
            <a:srgbClr val="84E0A8"/>
          </a:solidFill>
          <a:ln/>
        </p:spPr>
      </p:sp>
      <p:sp>
        <p:nvSpPr>
          <p:cNvPr id="90" name="Text 88"/>
          <p:cNvSpPr/>
          <p:nvPr/>
        </p:nvSpPr>
        <p:spPr>
          <a:xfrm>
            <a:off x="7077075" y="6632674"/>
            <a:ext cx="56271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registrado</a:t>
            </a:r>
            <a:endParaRPr lang="en-US" sz="788" dirty="0"/>
          </a:p>
        </p:txBody>
      </p:sp>
      <p:sp>
        <p:nvSpPr>
          <p:cNvPr id="91" name="Shape 89"/>
          <p:cNvSpPr/>
          <p:nvPr/>
        </p:nvSpPr>
        <p:spPr>
          <a:xfrm>
            <a:off x="7696944" y="6637437"/>
            <a:ext cx="123825" cy="123825"/>
          </a:xfrm>
          <a:prstGeom prst="roundRect">
            <a:avLst>
              <a:gd name="adj" fmla="val 30769"/>
            </a:avLst>
          </a:prstGeom>
          <a:solidFill>
            <a:srgbClr val="1B2539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877919" y="6632674"/>
            <a:ext cx="71378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 entradas</a:t>
            </a:r>
            <a:endParaRPr lang="en-US" sz="788" dirty="0"/>
          </a:p>
        </p:txBody>
      </p:sp>
      <p:sp>
        <p:nvSpPr>
          <p:cNvPr id="93" name="Shape 91"/>
          <p:cNvSpPr/>
          <p:nvPr/>
        </p:nvSpPr>
        <p:spPr>
          <a:xfrm>
            <a:off x="8648849" y="6637437"/>
            <a:ext cx="123825" cy="123825"/>
          </a:xfrm>
          <a:prstGeom prst="roundRect">
            <a:avLst>
              <a:gd name="adj" fmla="val 30769"/>
            </a:avLst>
          </a:prstGeom>
          <a:ln w="9525">
            <a:solidFill>
              <a:srgbClr val="E5B15C"/>
            </a:solidFill>
            <a:prstDash val="dash"/>
          </a:ln>
        </p:spPr>
      </p:sp>
      <p:sp>
        <p:nvSpPr>
          <p:cNvPr id="94" name="Text 92"/>
          <p:cNvSpPr/>
          <p:nvPr/>
        </p:nvSpPr>
        <p:spPr>
          <a:xfrm>
            <a:off x="8829824" y="6632674"/>
            <a:ext cx="87525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não sincronizado</a:t>
            </a:r>
            <a:endParaRPr lang="en-US" sz="788" dirty="0"/>
          </a:p>
        </p:txBody>
      </p:sp>
      <p:sp>
        <p:nvSpPr>
          <p:cNvPr id="95" name="Shape 93"/>
          <p:cNvSpPr/>
          <p:nvPr/>
        </p:nvSpPr>
        <p:spPr>
          <a:xfrm>
            <a:off x="9762232" y="6637437"/>
            <a:ext cx="123825" cy="123825"/>
          </a:xfrm>
          <a:prstGeom prst="roundRect">
            <a:avLst>
              <a:gd name="adj" fmla="val 30769"/>
            </a:avLst>
          </a:prstGeom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943207" y="6632674"/>
            <a:ext cx="37102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futuro</a:t>
            </a:r>
            <a:endParaRPr lang="en-US" sz="788" dirty="0"/>
          </a:p>
        </p:txBody>
      </p:sp>
      <p:sp>
        <p:nvSpPr>
          <p:cNvPr id="97" name="Shape 95"/>
          <p:cNvSpPr/>
          <p:nvPr/>
        </p:nvSpPr>
        <p:spPr>
          <a:xfrm>
            <a:off x="6734175" y="7061299"/>
            <a:ext cx="3714750" cy="971550"/>
          </a:xfrm>
          <a:prstGeom prst="roundRect">
            <a:avLst>
              <a:gd name="adj" fmla="val 21569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915150" y="7270849"/>
            <a:ext cx="102855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Últimos 30 dias</a:t>
            </a:r>
            <a:endParaRPr lang="en-US" sz="1013" dirty="0"/>
          </a:p>
        </p:txBody>
      </p:sp>
      <p:sp>
        <p:nvSpPr>
          <p:cNvPr id="99" name="Text 97"/>
          <p:cNvSpPr/>
          <p:nvPr/>
        </p:nvSpPr>
        <p:spPr>
          <a:xfrm>
            <a:off x="9933087" y="7242274"/>
            <a:ext cx="41106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4E0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80%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6915150" y="7547074"/>
            <a:ext cx="3352800" cy="76200"/>
          </a:xfrm>
          <a:prstGeom prst="roundRect">
            <a:avLst>
              <a:gd name="adj" fmla="val 50000"/>
            </a:avLst>
          </a:prstGeom>
          <a:solidFill>
            <a:srgbClr val="1B2539"/>
          </a:solidFill>
          <a:ln/>
        </p:spPr>
      </p:sp>
      <p:sp>
        <p:nvSpPr>
          <p:cNvPr id="101" name="Shape 99"/>
          <p:cNvSpPr/>
          <p:nvPr/>
        </p:nvSpPr>
        <p:spPr>
          <a:xfrm>
            <a:off x="6915150" y="7547074"/>
            <a:ext cx="2682180" cy="76200"/>
          </a:xfrm>
          <a:prstGeom prst="roundRect">
            <a:avLst>
              <a:gd name="adj" fmla="val 50000"/>
            </a:avLst>
          </a:prstGeom>
          <a:solidFill>
            <a:srgbClr val="84E0A8"/>
          </a:solidFill>
          <a:ln/>
        </p:spPr>
      </p:sp>
      <p:sp>
        <p:nvSpPr>
          <p:cNvPr id="102" name="Text 100"/>
          <p:cNvSpPr/>
          <p:nvPr/>
        </p:nvSpPr>
        <p:spPr>
          <a:xfrm>
            <a:off x="6915150" y="7708999"/>
            <a:ext cx="36880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Você registrou 24 de 30 dias.</a:t>
            </a:r>
            <a:endParaRPr lang="en-US" sz="863" dirty="0"/>
          </a:p>
        </p:txBody>
      </p:sp>
      <p:sp>
        <p:nvSpPr>
          <p:cNvPr id="103" name="Shape 101"/>
          <p:cNvSpPr/>
          <p:nvPr/>
        </p:nvSpPr>
        <p:spPr>
          <a:xfrm>
            <a:off x="11182350" y="1745456"/>
            <a:ext cx="4038600" cy="6796088"/>
          </a:xfrm>
          <a:prstGeom prst="roundRect">
            <a:avLst>
              <a:gd name="adj" fmla="val 8962"/>
            </a:avLst>
          </a:prstGeom>
          <a:solidFill>
            <a:srgbClr val="0A0F1A"/>
          </a:solidFill>
          <a:ln w="9525">
            <a:solidFill>
              <a:srgbClr val="FFFFFF">
                <a:alpha val="13000"/>
              </a:srgbClr>
            </a:solidFill>
            <a:prstDash val="solid"/>
          </a:ln>
          <a:effectLst>
            <a:outerShdw sx="100000" sy="100000" kx="0" ky="0" algn="bl" rotWithShape="0" blurRad="857250" dist="285750" dir="5400000">
              <a:srgbClr val="000000">
                <a:alpha val="55000"/>
              </a:srgbClr>
            </a:outerShdw>
          </a:effectLst>
        </p:spPr>
      </p:sp>
      <p:sp>
        <p:nvSpPr>
          <p:cNvPr id="104" name="Shape 102"/>
          <p:cNvSpPr/>
          <p:nvPr/>
        </p:nvSpPr>
        <p:spPr>
          <a:xfrm>
            <a:off x="11344275" y="1945481"/>
            <a:ext cx="3714750" cy="1628775"/>
          </a:xfrm>
          <a:prstGeom prst="roundRect">
            <a:avLst>
              <a:gd name="adj" fmla="val 12865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1525250" y="2126456"/>
            <a:ext cx="368808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PESO ATUAL</a:t>
            </a:r>
            <a:endParaRPr lang="en-US" sz="825" dirty="0"/>
          </a:p>
        </p:txBody>
      </p:sp>
      <p:sp>
        <p:nvSpPr>
          <p:cNvPr id="106" name="Text 104"/>
          <p:cNvSpPr/>
          <p:nvPr/>
        </p:nvSpPr>
        <p:spPr>
          <a:xfrm>
            <a:off x="11525250" y="2336006"/>
            <a:ext cx="113481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414"/>
              </a:lnSpc>
              <a:buNone/>
            </a:pPr>
            <a:r>
              <a:rPr lang="en-US" sz="3150" b="1" spc="-94" kern="0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104,4</a:t>
            </a:r>
            <a:endParaRPr lang="en-US" sz="3150" dirty="0"/>
          </a:p>
        </p:txBody>
      </p:sp>
      <p:sp>
        <p:nvSpPr>
          <p:cNvPr id="107" name="Text 105"/>
          <p:cNvSpPr/>
          <p:nvPr/>
        </p:nvSpPr>
        <p:spPr>
          <a:xfrm>
            <a:off x="12679114" y="2507456"/>
            <a:ext cx="22726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4748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kg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14320838" y="2478881"/>
            <a:ext cx="557213" cy="257175"/>
          </a:xfrm>
          <a:prstGeom prst="roundRect">
            <a:avLst>
              <a:gd name="adj" fmla="val 33333"/>
            </a:avLst>
          </a:prstGeom>
          <a:solidFill>
            <a:srgbClr val="84E0A8">
              <a:alpha val="14000"/>
            </a:srgbClr>
          </a:solidFill>
          <a:ln/>
        </p:spPr>
      </p:sp>
      <p:sp>
        <p:nvSpPr>
          <p:cNvPr id="109" name="Text 107"/>
          <p:cNvSpPr/>
          <p:nvPr/>
        </p:nvSpPr>
        <p:spPr>
          <a:xfrm>
            <a:off x="14416088" y="2526506"/>
            <a:ext cx="44291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4E0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−1,8 kg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11525250" y="2888456"/>
            <a:ext cx="33528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11" name="Text 109"/>
          <p:cNvSpPr/>
          <p:nvPr/>
        </p:nvSpPr>
        <p:spPr>
          <a:xfrm>
            <a:off x="11525250" y="3031331"/>
            <a:ext cx="9906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 (FATSECRET)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11525250" y="3193256"/>
            <a:ext cx="9906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80,0 kg</a:t>
            </a:r>
            <a:endParaRPr lang="en-US" sz="1125" dirty="0"/>
          </a:p>
        </p:txBody>
      </p:sp>
      <p:sp>
        <p:nvSpPr>
          <p:cNvPr id="113" name="Text 111"/>
          <p:cNvSpPr/>
          <p:nvPr/>
        </p:nvSpPr>
        <p:spPr>
          <a:xfrm>
            <a:off x="12592050" y="3031331"/>
            <a:ext cx="96440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PESAGENS</a:t>
            </a:r>
            <a:endParaRPr lang="en-US" sz="750" dirty="0"/>
          </a:p>
        </p:txBody>
      </p:sp>
      <p:sp>
        <p:nvSpPr>
          <p:cNvPr id="114" name="Text 112"/>
          <p:cNvSpPr/>
          <p:nvPr/>
        </p:nvSpPr>
        <p:spPr>
          <a:xfrm>
            <a:off x="12592050" y="3193256"/>
            <a:ext cx="9644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em 30 dias</a:t>
            </a:r>
            <a:endParaRPr lang="en-US" sz="1125" dirty="0"/>
          </a:p>
        </p:txBody>
      </p:sp>
      <p:sp>
        <p:nvSpPr>
          <p:cNvPr id="115" name="Shape 113"/>
          <p:cNvSpPr/>
          <p:nvPr/>
        </p:nvSpPr>
        <p:spPr>
          <a:xfrm>
            <a:off x="11344275" y="3688556"/>
            <a:ext cx="3714750" cy="2314575"/>
          </a:xfrm>
          <a:prstGeom prst="roundRect">
            <a:avLst>
              <a:gd name="adj" fmla="val 9053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525250" y="3869531"/>
            <a:ext cx="11584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Evolução do peso</a:t>
            </a:r>
            <a:endParaRPr lang="en-US" sz="1013" dirty="0"/>
          </a:p>
        </p:txBody>
      </p:sp>
      <p:sp>
        <p:nvSpPr>
          <p:cNvPr id="117" name="Text 115"/>
          <p:cNvSpPr/>
          <p:nvPr/>
        </p:nvSpPr>
        <p:spPr>
          <a:xfrm>
            <a:off x="13617773" y="3898106"/>
            <a:ext cx="138630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 DIAS · 11 PESAGENS</a:t>
            </a:r>
            <a:endParaRPr lang="en-US" sz="788" dirty="0"/>
          </a:p>
        </p:txBody>
      </p:sp>
      <p:pic>
        <p:nvPicPr>
          <p:cNvPr id="1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25250" y="4155281"/>
            <a:ext cx="3352800" cy="1238250"/>
          </a:xfrm>
          <a:prstGeom prst="rect">
            <a:avLst/>
          </a:prstGeom>
        </p:spPr>
      </p:pic>
      <p:sp>
        <p:nvSpPr>
          <p:cNvPr id="119" name="Shape 116"/>
          <p:cNvSpPr/>
          <p:nvPr/>
        </p:nvSpPr>
        <p:spPr>
          <a:xfrm>
            <a:off x="11525250" y="5564981"/>
            <a:ext cx="33528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120" name="Shape 117"/>
          <p:cNvSpPr/>
          <p:nvPr/>
        </p:nvSpPr>
        <p:spPr>
          <a:xfrm>
            <a:off x="11525250" y="5745956"/>
            <a:ext cx="133350" cy="19050"/>
          </a:xfrm>
          <a:prstGeom prst="rect">
            <a:avLst/>
          </a:prstGeom>
          <a:solidFill>
            <a:srgbClr val="5FC8E8">
              <a:alpha val="60000"/>
            </a:srgbClr>
          </a:solidFill>
          <a:ln/>
        </p:spPr>
      </p:sp>
      <p:sp>
        <p:nvSpPr>
          <p:cNvPr id="121" name="Text 118"/>
          <p:cNvSpPr/>
          <p:nvPr/>
        </p:nvSpPr>
        <p:spPr>
          <a:xfrm>
            <a:off x="11715750" y="5688806"/>
            <a:ext cx="53578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pesagens</a:t>
            </a:r>
            <a:endParaRPr lang="en-US" sz="788" dirty="0"/>
          </a:p>
        </p:txBody>
      </p:sp>
      <p:sp>
        <p:nvSpPr>
          <p:cNvPr id="122" name="Shape 119"/>
          <p:cNvSpPr/>
          <p:nvPr/>
        </p:nvSpPr>
        <p:spPr>
          <a:xfrm>
            <a:off x="12308681" y="5741194"/>
            <a:ext cx="133350" cy="28575"/>
          </a:xfrm>
          <a:prstGeom prst="roundRect">
            <a:avLst>
              <a:gd name="adj" fmla="val 50000"/>
            </a:avLst>
          </a:prstGeom>
          <a:solidFill>
            <a:srgbClr val="84E0A8"/>
          </a:solidFill>
          <a:ln/>
        </p:spPr>
      </p:sp>
      <p:sp>
        <p:nvSpPr>
          <p:cNvPr id="123" name="Text 120"/>
          <p:cNvSpPr/>
          <p:nvPr/>
        </p:nvSpPr>
        <p:spPr>
          <a:xfrm>
            <a:off x="12499181" y="5688806"/>
            <a:ext cx="94699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média móvel 7 dias</a:t>
            </a:r>
            <a:endParaRPr lang="en-US" sz="788" dirty="0"/>
          </a:p>
        </p:txBody>
      </p:sp>
      <p:sp>
        <p:nvSpPr>
          <p:cNvPr id="124" name="Shape 121"/>
          <p:cNvSpPr/>
          <p:nvPr/>
        </p:nvSpPr>
        <p:spPr>
          <a:xfrm>
            <a:off x="11344275" y="6117431"/>
            <a:ext cx="3714750" cy="2224088"/>
          </a:xfrm>
          <a:prstGeom prst="roundRect">
            <a:avLst>
              <a:gd name="adj" fmla="val 9422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11525250" y="6298406"/>
            <a:ext cx="36880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Calorias no mesmo período</a:t>
            </a:r>
            <a:endParaRPr lang="en-US" sz="1013" dirty="0"/>
          </a:p>
        </p:txBody>
      </p:sp>
      <p:sp>
        <p:nvSpPr>
          <p:cNvPr id="126" name="Text 123"/>
          <p:cNvSpPr/>
          <p:nvPr/>
        </p:nvSpPr>
        <p:spPr>
          <a:xfrm>
            <a:off x="11525250" y="6517481"/>
            <a:ext cx="368808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MESMO EIXO DE TEMPO · 24 DIAS REGISTRADOS</a:t>
            </a:r>
            <a:endParaRPr lang="en-US" sz="788" dirty="0"/>
          </a:p>
        </p:txBody>
      </p:sp>
      <p:sp>
        <p:nvSpPr>
          <p:cNvPr id="127" name="Shape 124"/>
          <p:cNvSpPr/>
          <p:nvPr/>
        </p:nvSpPr>
        <p:spPr>
          <a:xfrm>
            <a:off x="11525250" y="7012781"/>
            <a:ext cx="93315" cy="457200"/>
          </a:xfrm>
          <a:prstGeom prst="roundRect">
            <a:avLst>
              <a:gd name="adj" fmla="val 20415"/>
            </a:avLst>
          </a:prstGeom>
          <a:solidFill>
            <a:srgbClr val="84E0A8">
              <a:alpha val="85000"/>
            </a:srgbClr>
          </a:solidFill>
          <a:ln/>
        </p:spPr>
      </p:sp>
      <p:sp>
        <p:nvSpPr>
          <p:cNvPr id="128" name="Shape 125"/>
          <p:cNvSpPr/>
          <p:nvPr/>
        </p:nvSpPr>
        <p:spPr>
          <a:xfrm>
            <a:off x="11637615" y="6974681"/>
            <a:ext cx="93464" cy="495300"/>
          </a:xfrm>
          <a:prstGeom prst="roundRect">
            <a:avLst>
              <a:gd name="adj" fmla="val 20382"/>
            </a:avLst>
          </a:prstGeom>
          <a:solidFill>
            <a:srgbClr val="84E0A8">
              <a:alpha val="85000"/>
            </a:srgbClr>
          </a:solidFill>
          <a:ln/>
        </p:spPr>
      </p:sp>
      <p:sp>
        <p:nvSpPr>
          <p:cNvPr id="129" name="Shape 126"/>
          <p:cNvSpPr/>
          <p:nvPr/>
        </p:nvSpPr>
        <p:spPr>
          <a:xfrm>
            <a:off x="11750129" y="6841331"/>
            <a:ext cx="93315" cy="628650"/>
          </a:xfrm>
          <a:prstGeom prst="roundRect">
            <a:avLst>
              <a:gd name="adj" fmla="val 20415"/>
            </a:avLst>
          </a:prstGeom>
          <a:solidFill>
            <a:srgbClr val="1B2539">
              <a:alpha val="50000"/>
            </a:srgbClr>
          </a:solidFill>
          <a:ln/>
        </p:spPr>
      </p:sp>
      <p:sp>
        <p:nvSpPr>
          <p:cNvPr id="130" name="Shape 127"/>
          <p:cNvSpPr/>
          <p:nvPr/>
        </p:nvSpPr>
        <p:spPr>
          <a:xfrm>
            <a:off x="11862495" y="7050881"/>
            <a:ext cx="93464" cy="419100"/>
          </a:xfrm>
          <a:prstGeom prst="roundRect">
            <a:avLst>
              <a:gd name="adj" fmla="val 20382"/>
            </a:avLst>
          </a:prstGeom>
          <a:solidFill>
            <a:srgbClr val="5FC8E8">
              <a:alpha val="85000"/>
            </a:srgbClr>
          </a:solidFill>
          <a:ln/>
        </p:spPr>
      </p:sp>
      <p:sp>
        <p:nvSpPr>
          <p:cNvPr id="131" name="Shape 128"/>
          <p:cNvSpPr/>
          <p:nvPr/>
        </p:nvSpPr>
        <p:spPr>
          <a:xfrm>
            <a:off x="11975009" y="6927056"/>
            <a:ext cx="93315" cy="542925"/>
          </a:xfrm>
          <a:prstGeom prst="roundRect">
            <a:avLst>
              <a:gd name="adj" fmla="val 20415"/>
            </a:avLst>
          </a:prstGeom>
          <a:solidFill>
            <a:srgbClr val="F0806F">
              <a:alpha val="85000"/>
            </a:srgbClr>
          </a:solidFill>
          <a:ln/>
        </p:spPr>
      </p:sp>
      <p:sp>
        <p:nvSpPr>
          <p:cNvPr id="132" name="Shape 129"/>
          <p:cNvSpPr/>
          <p:nvPr/>
        </p:nvSpPr>
        <p:spPr>
          <a:xfrm>
            <a:off x="12087374" y="6888956"/>
            <a:ext cx="93464" cy="581025"/>
          </a:xfrm>
          <a:prstGeom prst="roundRect">
            <a:avLst>
              <a:gd name="adj" fmla="val 20382"/>
            </a:avLst>
          </a:prstGeom>
          <a:solidFill>
            <a:srgbClr val="F0806F">
              <a:alpha val="85000"/>
            </a:srgbClr>
          </a:solidFill>
          <a:ln/>
        </p:spPr>
      </p:sp>
      <p:sp>
        <p:nvSpPr>
          <p:cNvPr id="133" name="Shape 130"/>
          <p:cNvSpPr/>
          <p:nvPr/>
        </p:nvSpPr>
        <p:spPr>
          <a:xfrm>
            <a:off x="12199888" y="7003256"/>
            <a:ext cx="93315" cy="466725"/>
          </a:xfrm>
          <a:prstGeom prst="roundRect">
            <a:avLst>
              <a:gd name="adj" fmla="val 20415"/>
            </a:avLst>
          </a:prstGeom>
          <a:solidFill>
            <a:srgbClr val="84E0A8">
              <a:alpha val="85000"/>
            </a:srgbClr>
          </a:solidFill>
          <a:ln/>
        </p:spPr>
      </p:sp>
      <p:sp>
        <p:nvSpPr>
          <p:cNvPr id="134" name="Shape 131"/>
          <p:cNvSpPr/>
          <p:nvPr/>
        </p:nvSpPr>
        <p:spPr>
          <a:xfrm>
            <a:off x="12312253" y="7041356"/>
            <a:ext cx="93464" cy="428625"/>
          </a:xfrm>
          <a:prstGeom prst="roundRect">
            <a:avLst>
              <a:gd name="adj" fmla="val 20382"/>
            </a:avLst>
          </a:prstGeom>
          <a:solidFill>
            <a:srgbClr val="5FC8E8">
              <a:alpha val="85000"/>
            </a:srgbClr>
          </a:solidFill>
          <a:ln/>
        </p:spPr>
      </p:sp>
      <p:sp>
        <p:nvSpPr>
          <p:cNvPr id="135" name="Shape 132"/>
          <p:cNvSpPr/>
          <p:nvPr/>
        </p:nvSpPr>
        <p:spPr>
          <a:xfrm>
            <a:off x="12424767" y="6841331"/>
            <a:ext cx="93315" cy="628650"/>
          </a:xfrm>
          <a:prstGeom prst="roundRect">
            <a:avLst>
              <a:gd name="adj" fmla="val 20415"/>
            </a:avLst>
          </a:prstGeom>
          <a:solidFill>
            <a:srgbClr val="1B2539">
              <a:alpha val="50000"/>
            </a:srgbClr>
          </a:solidFill>
          <a:ln/>
        </p:spPr>
      </p:sp>
      <p:sp>
        <p:nvSpPr>
          <p:cNvPr id="136" name="Shape 133"/>
          <p:cNvSpPr/>
          <p:nvPr/>
        </p:nvSpPr>
        <p:spPr>
          <a:xfrm>
            <a:off x="12537132" y="6955631"/>
            <a:ext cx="93464" cy="514350"/>
          </a:xfrm>
          <a:prstGeom prst="roundRect">
            <a:avLst>
              <a:gd name="adj" fmla="val 20382"/>
            </a:avLst>
          </a:prstGeom>
          <a:solidFill>
            <a:srgbClr val="84E0A8">
              <a:alpha val="85000"/>
            </a:srgbClr>
          </a:solidFill>
          <a:ln/>
        </p:spPr>
      </p:sp>
      <p:sp>
        <p:nvSpPr>
          <p:cNvPr id="137" name="Shape 134"/>
          <p:cNvSpPr/>
          <p:nvPr/>
        </p:nvSpPr>
        <p:spPr>
          <a:xfrm>
            <a:off x="12649646" y="7060406"/>
            <a:ext cx="93315" cy="409575"/>
          </a:xfrm>
          <a:prstGeom prst="roundRect">
            <a:avLst>
              <a:gd name="adj" fmla="val 20415"/>
            </a:avLst>
          </a:prstGeom>
          <a:solidFill>
            <a:srgbClr val="5FC8E8">
              <a:alpha val="85000"/>
            </a:srgbClr>
          </a:solidFill>
          <a:ln/>
        </p:spPr>
      </p:sp>
      <p:sp>
        <p:nvSpPr>
          <p:cNvPr id="138" name="Shape 135"/>
          <p:cNvSpPr/>
          <p:nvPr/>
        </p:nvSpPr>
        <p:spPr>
          <a:xfrm>
            <a:off x="12762012" y="6993731"/>
            <a:ext cx="93464" cy="476250"/>
          </a:xfrm>
          <a:prstGeom prst="roundRect">
            <a:avLst>
              <a:gd name="adj" fmla="val 20382"/>
            </a:avLst>
          </a:prstGeom>
          <a:solidFill>
            <a:srgbClr val="84E0A8">
              <a:alpha val="85000"/>
            </a:srgbClr>
          </a:solidFill>
          <a:ln/>
        </p:spPr>
      </p:sp>
      <p:sp>
        <p:nvSpPr>
          <p:cNvPr id="139" name="Shape 136"/>
          <p:cNvSpPr/>
          <p:nvPr/>
        </p:nvSpPr>
        <p:spPr>
          <a:xfrm>
            <a:off x="12874526" y="6908006"/>
            <a:ext cx="93315" cy="561975"/>
          </a:xfrm>
          <a:prstGeom prst="roundRect">
            <a:avLst>
              <a:gd name="adj" fmla="val 20415"/>
            </a:avLst>
          </a:prstGeom>
          <a:solidFill>
            <a:srgbClr val="F0806F">
              <a:alpha val="85000"/>
            </a:srgbClr>
          </a:solidFill>
          <a:ln/>
        </p:spPr>
      </p:sp>
      <p:sp>
        <p:nvSpPr>
          <p:cNvPr id="140" name="Shape 137"/>
          <p:cNvSpPr/>
          <p:nvPr/>
        </p:nvSpPr>
        <p:spPr>
          <a:xfrm>
            <a:off x="12986891" y="6869906"/>
            <a:ext cx="93315" cy="600075"/>
          </a:xfrm>
          <a:prstGeom prst="roundRect">
            <a:avLst>
              <a:gd name="adj" fmla="val 20415"/>
            </a:avLst>
          </a:prstGeom>
          <a:solidFill>
            <a:srgbClr val="F0806F">
              <a:alpha val="85000"/>
            </a:srgbClr>
          </a:solidFill>
          <a:ln/>
        </p:spPr>
      </p:sp>
      <p:sp>
        <p:nvSpPr>
          <p:cNvPr id="141" name="Shape 138"/>
          <p:cNvSpPr/>
          <p:nvPr/>
        </p:nvSpPr>
        <p:spPr>
          <a:xfrm>
            <a:off x="13099256" y="7022306"/>
            <a:ext cx="93315" cy="447675"/>
          </a:xfrm>
          <a:prstGeom prst="roundRect">
            <a:avLst>
              <a:gd name="adj" fmla="val 20415"/>
            </a:avLst>
          </a:prstGeom>
          <a:solidFill>
            <a:srgbClr val="84E0A8">
              <a:alpha val="85000"/>
            </a:srgbClr>
          </a:solidFill>
          <a:ln/>
        </p:spPr>
      </p:sp>
      <p:sp>
        <p:nvSpPr>
          <p:cNvPr id="142" name="Shape 139"/>
          <p:cNvSpPr/>
          <p:nvPr/>
        </p:nvSpPr>
        <p:spPr>
          <a:xfrm>
            <a:off x="13211621" y="7041356"/>
            <a:ext cx="93315" cy="428625"/>
          </a:xfrm>
          <a:prstGeom prst="roundRect">
            <a:avLst>
              <a:gd name="adj" fmla="val 20415"/>
            </a:avLst>
          </a:prstGeom>
          <a:solidFill>
            <a:srgbClr val="5FC8E8">
              <a:alpha val="85000"/>
            </a:srgbClr>
          </a:solidFill>
          <a:ln/>
        </p:spPr>
      </p:sp>
      <p:sp>
        <p:nvSpPr>
          <p:cNvPr id="143" name="Shape 140"/>
          <p:cNvSpPr/>
          <p:nvPr/>
        </p:nvSpPr>
        <p:spPr>
          <a:xfrm>
            <a:off x="13323987" y="6841331"/>
            <a:ext cx="93315" cy="628650"/>
          </a:xfrm>
          <a:prstGeom prst="roundRect">
            <a:avLst>
              <a:gd name="adj" fmla="val 20415"/>
            </a:avLst>
          </a:prstGeom>
          <a:solidFill>
            <a:srgbClr val="1B2539">
              <a:alpha val="50000"/>
            </a:srgbClr>
          </a:solidFill>
          <a:ln/>
        </p:spPr>
      </p:sp>
      <p:sp>
        <p:nvSpPr>
          <p:cNvPr id="144" name="Shape 141"/>
          <p:cNvSpPr/>
          <p:nvPr/>
        </p:nvSpPr>
        <p:spPr>
          <a:xfrm>
            <a:off x="13436352" y="6984206"/>
            <a:ext cx="93315" cy="485775"/>
          </a:xfrm>
          <a:prstGeom prst="roundRect">
            <a:avLst>
              <a:gd name="adj" fmla="val 20415"/>
            </a:avLst>
          </a:prstGeom>
          <a:solidFill>
            <a:srgbClr val="84E0A8">
              <a:alpha val="85000"/>
            </a:srgbClr>
          </a:solidFill>
          <a:ln/>
        </p:spPr>
      </p:sp>
      <p:sp>
        <p:nvSpPr>
          <p:cNvPr id="145" name="Shape 142"/>
          <p:cNvSpPr/>
          <p:nvPr/>
        </p:nvSpPr>
        <p:spPr>
          <a:xfrm>
            <a:off x="13548717" y="7079456"/>
            <a:ext cx="93315" cy="390525"/>
          </a:xfrm>
          <a:prstGeom prst="roundRect">
            <a:avLst>
              <a:gd name="adj" fmla="val 20415"/>
            </a:avLst>
          </a:prstGeom>
          <a:solidFill>
            <a:srgbClr val="5FC8E8">
              <a:alpha val="85000"/>
            </a:srgbClr>
          </a:solidFill>
          <a:ln/>
        </p:spPr>
      </p:sp>
      <p:sp>
        <p:nvSpPr>
          <p:cNvPr id="146" name="Shape 143"/>
          <p:cNvSpPr/>
          <p:nvPr/>
        </p:nvSpPr>
        <p:spPr>
          <a:xfrm>
            <a:off x="13661082" y="6917531"/>
            <a:ext cx="93315" cy="552450"/>
          </a:xfrm>
          <a:prstGeom prst="roundRect">
            <a:avLst>
              <a:gd name="adj" fmla="val 20415"/>
            </a:avLst>
          </a:prstGeom>
          <a:solidFill>
            <a:srgbClr val="F0806F">
              <a:alpha val="85000"/>
            </a:srgbClr>
          </a:solidFill>
          <a:ln/>
        </p:spPr>
      </p:sp>
      <p:sp>
        <p:nvSpPr>
          <p:cNvPr id="147" name="Shape 144"/>
          <p:cNvSpPr/>
          <p:nvPr/>
        </p:nvSpPr>
        <p:spPr>
          <a:xfrm>
            <a:off x="13773448" y="6879431"/>
            <a:ext cx="93315" cy="590550"/>
          </a:xfrm>
          <a:prstGeom prst="roundRect">
            <a:avLst>
              <a:gd name="adj" fmla="val 20415"/>
            </a:avLst>
          </a:prstGeom>
          <a:solidFill>
            <a:srgbClr val="F0806F">
              <a:alpha val="85000"/>
            </a:srgbClr>
          </a:solidFill>
          <a:ln/>
        </p:spPr>
      </p:sp>
      <p:sp>
        <p:nvSpPr>
          <p:cNvPr id="148" name="Shape 145"/>
          <p:cNvSpPr/>
          <p:nvPr/>
        </p:nvSpPr>
        <p:spPr>
          <a:xfrm>
            <a:off x="13885813" y="7012781"/>
            <a:ext cx="93315" cy="457200"/>
          </a:xfrm>
          <a:prstGeom prst="roundRect">
            <a:avLst>
              <a:gd name="adj" fmla="val 20415"/>
            </a:avLst>
          </a:prstGeom>
          <a:solidFill>
            <a:srgbClr val="84E0A8">
              <a:alpha val="85000"/>
            </a:srgbClr>
          </a:solidFill>
          <a:ln/>
        </p:spPr>
      </p:sp>
      <p:sp>
        <p:nvSpPr>
          <p:cNvPr id="149" name="Shape 146"/>
          <p:cNvSpPr/>
          <p:nvPr/>
        </p:nvSpPr>
        <p:spPr>
          <a:xfrm>
            <a:off x="13998178" y="7060406"/>
            <a:ext cx="93315" cy="409575"/>
          </a:xfrm>
          <a:prstGeom prst="roundRect">
            <a:avLst>
              <a:gd name="adj" fmla="val 20415"/>
            </a:avLst>
          </a:prstGeom>
          <a:solidFill>
            <a:srgbClr val="5FC8E8">
              <a:alpha val="85000"/>
            </a:srgbClr>
          </a:solidFill>
          <a:ln/>
        </p:spPr>
      </p:sp>
      <p:sp>
        <p:nvSpPr>
          <p:cNvPr id="150" name="Shape 147"/>
          <p:cNvSpPr/>
          <p:nvPr/>
        </p:nvSpPr>
        <p:spPr>
          <a:xfrm>
            <a:off x="14110543" y="6965156"/>
            <a:ext cx="93315" cy="504825"/>
          </a:xfrm>
          <a:prstGeom prst="roundRect">
            <a:avLst>
              <a:gd name="adj" fmla="val 20415"/>
            </a:avLst>
          </a:prstGeom>
          <a:solidFill>
            <a:srgbClr val="84E0A8">
              <a:alpha val="85000"/>
            </a:srgbClr>
          </a:solidFill>
          <a:ln/>
        </p:spPr>
      </p:sp>
      <p:sp>
        <p:nvSpPr>
          <p:cNvPr id="151" name="Shape 148"/>
          <p:cNvSpPr/>
          <p:nvPr/>
        </p:nvSpPr>
        <p:spPr>
          <a:xfrm>
            <a:off x="14222909" y="6841331"/>
            <a:ext cx="93315" cy="628650"/>
          </a:xfrm>
          <a:prstGeom prst="roundRect">
            <a:avLst>
              <a:gd name="adj" fmla="val 20415"/>
            </a:avLst>
          </a:prstGeom>
          <a:solidFill>
            <a:srgbClr val="1B2539">
              <a:alpha val="50000"/>
            </a:srgbClr>
          </a:solidFill>
          <a:ln/>
        </p:spPr>
      </p:sp>
      <p:sp>
        <p:nvSpPr>
          <p:cNvPr id="152" name="Shape 149"/>
          <p:cNvSpPr/>
          <p:nvPr/>
        </p:nvSpPr>
        <p:spPr>
          <a:xfrm>
            <a:off x="14335274" y="7069931"/>
            <a:ext cx="93315" cy="400050"/>
          </a:xfrm>
          <a:prstGeom prst="roundRect">
            <a:avLst>
              <a:gd name="adj" fmla="val 20415"/>
            </a:avLst>
          </a:prstGeom>
          <a:solidFill>
            <a:srgbClr val="5FC8E8">
              <a:alpha val="85000"/>
            </a:srgbClr>
          </a:solidFill>
          <a:ln/>
        </p:spPr>
      </p:sp>
      <p:sp>
        <p:nvSpPr>
          <p:cNvPr id="153" name="Shape 150"/>
          <p:cNvSpPr/>
          <p:nvPr/>
        </p:nvSpPr>
        <p:spPr>
          <a:xfrm>
            <a:off x="14447639" y="6936581"/>
            <a:ext cx="93315" cy="533400"/>
          </a:xfrm>
          <a:prstGeom prst="roundRect">
            <a:avLst>
              <a:gd name="adj" fmla="val 20415"/>
            </a:avLst>
          </a:prstGeom>
          <a:solidFill>
            <a:srgbClr val="F0806F">
              <a:alpha val="85000"/>
            </a:srgbClr>
          </a:solidFill>
          <a:ln/>
        </p:spPr>
      </p:sp>
      <p:sp>
        <p:nvSpPr>
          <p:cNvPr id="154" name="Shape 151"/>
          <p:cNvSpPr/>
          <p:nvPr/>
        </p:nvSpPr>
        <p:spPr>
          <a:xfrm>
            <a:off x="14560004" y="6993731"/>
            <a:ext cx="93315" cy="476250"/>
          </a:xfrm>
          <a:prstGeom prst="roundRect">
            <a:avLst>
              <a:gd name="adj" fmla="val 20415"/>
            </a:avLst>
          </a:prstGeom>
          <a:solidFill>
            <a:srgbClr val="84E0A8">
              <a:alpha val="85000"/>
            </a:srgbClr>
          </a:solidFill>
          <a:ln/>
        </p:spPr>
      </p:sp>
      <p:sp>
        <p:nvSpPr>
          <p:cNvPr id="155" name="Shape 152"/>
          <p:cNvSpPr/>
          <p:nvPr/>
        </p:nvSpPr>
        <p:spPr>
          <a:xfrm>
            <a:off x="14672370" y="6869906"/>
            <a:ext cx="93315" cy="600075"/>
          </a:xfrm>
          <a:prstGeom prst="roundRect">
            <a:avLst>
              <a:gd name="adj" fmla="val 20415"/>
            </a:avLst>
          </a:prstGeom>
          <a:solidFill>
            <a:srgbClr val="F0806F">
              <a:alpha val="85000"/>
            </a:srgbClr>
          </a:solidFill>
          <a:ln/>
        </p:spPr>
      </p:sp>
      <p:sp>
        <p:nvSpPr>
          <p:cNvPr id="156" name="Shape 153"/>
          <p:cNvSpPr/>
          <p:nvPr/>
        </p:nvSpPr>
        <p:spPr>
          <a:xfrm>
            <a:off x="14784735" y="6898481"/>
            <a:ext cx="93315" cy="571500"/>
          </a:xfrm>
          <a:prstGeom prst="roundRect">
            <a:avLst>
              <a:gd name="adj" fmla="val 20415"/>
            </a:avLst>
          </a:prstGeom>
          <a:solidFill>
            <a:srgbClr val="F0806F">
              <a:alpha val="85000"/>
            </a:srgbClr>
          </a:solidFill>
          <a:ln/>
        </p:spPr>
      </p:sp>
      <p:sp>
        <p:nvSpPr>
          <p:cNvPr id="157" name="Shape 154"/>
          <p:cNvSpPr/>
          <p:nvPr/>
        </p:nvSpPr>
        <p:spPr>
          <a:xfrm>
            <a:off x="11525250" y="7603331"/>
            <a:ext cx="3352800" cy="557213"/>
          </a:xfrm>
          <a:prstGeom prst="roundRect">
            <a:avLst>
              <a:gd name="adj" fmla="val 22222"/>
            </a:avLst>
          </a:prstGeom>
          <a:solidFill>
            <a:srgbClr val="1B2539"/>
          </a:solidFill>
          <a:ln/>
        </p:spPr>
      </p:sp>
      <p:sp>
        <p:nvSpPr>
          <p:cNvPr id="158" name="Shape 155"/>
          <p:cNvSpPr/>
          <p:nvPr/>
        </p:nvSpPr>
        <p:spPr>
          <a:xfrm>
            <a:off x="11649075" y="7717631"/>
            <a:ext cx="28575" cy="328613"/>
          </a:xfrm>
          <a:prstGeom prst="roundRect">
            <a:avLst>
              <a:gd name="adj" fmla="val 50000"/>
            </a:avLst>
          </a:prstGeom>
          <a:solidFill>
            <a:srgbClr val="64748F"/>
          </a:solidFill>
          <a:ln/>
        </p:spPr>
      </p:sp>
      <p:sp>
        <p:nvSpPr>
          <p:cNvPr id="159" name="Text 156"/>
          <p:cNvSpPr/>
          <p:nvPr/>
        </p:nvSpPr>
        <p:spPr>
          <a:xfrm>
            <a:off x="11763375" y="7717631"/>
            <a:ext cx="308057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63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Os gráficos aparecem juntos para facilitar a observação. Isso não significa que uma variação causou a outra.</a:t>
            </a:r>
            <a:endParaRPr lang="en-US" sz="86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52500"/>
            <a:ext cx="173926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ESTADOS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8250" y="1400175"/>
            <a:ext cx="17392650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04"/>
              </a:lnSpc>
              <a:buNone/>
            </a:pPr>
            <a:r>
              <a:rPr lang="en-US" sz="5100" b="1" spc="-153" kern="0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Vazio, carregando, erro e dados insuficientes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238250" y="2607915"/>
            <a:ext cx="5105400" cy="3425130"/>
          </a:xfrm>
          <a:prstGeom prst="roundRect">
            <a:avLst>
              <a:gd name="adj" fmla="val 7230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9725" y="2979390"/>
            <a:ext cx="47986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4E0A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SINCRONIZADO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09725" y="3408015"/>
            <a:ext cx="449332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950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Dados completos, carimbo de horário e leitura do dia.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591300" y="2607915"/>
            <a:ext cx="5105400" cy="3425130"/>
          </a:xfrm>
          <a:prstGeom prst="roundRect">
            <a:avLst>
              <a:gd name="adj" fmla="val 7230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2775" y="2979390"/>
            <a:ext cx="47986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3A3B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SEM REGISTROS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62775" y="3408015"/>
            <a:ext cx="4493324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950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 sincronizado sem entradas — explicitamente diferente de consumo zero.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944350" y="2607915"/>
            <a:ext cx="5105400" cy="3425130"/>
          </a:xfrm>
          <a:prstGeom prst="roundRect">
            <a:avLst>
              <a:gd name="adj" fmla="val 7230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15825" y="2979390"/>
            <a:ext cx="47986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5B15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NÃO SINCRONIZADO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15825" y="3408015"/>
            <a:ext cx="4493324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950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Nada trazido ainda; ação de sincronizar e esqueleto de carregamento.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238250" y="6280696"/>
            <a:ext cx="5105400" cy="3053804"/>
          </a:xfrm>
          <a:prstGeom prst="roundRect">
            <a:avLst>
              <a:gd name="adj" fmla="val 8110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9725" y="6652171"/>
            <a:ext cx="47986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80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FALHA DE SYNC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9725" y="7080796"/>
            <a:ext cx="449332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950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Mantém os últimos dados válidos e data a origem deles no chip do topo.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591300" y="6280696"/>
            <a:ext cx="5105400" cy="3053804"/>
          </a:xfrm>
          <a:prstGeom prst="roundRect">
            <a:avLst>
              <a:gd name="adj" fmla="val 8110"/>
            </a:avLst>
          </a:prstGeom>
          <a:solidFill>
            <a:srgbClr val="131B2B"/>
          </a:solidFill>
          <a:ln w="9525">
            <a:solidFill>
              <a:srgbClr val="FFFFFF">
                <a:alpha val="16000"/>
              </a:srgbClr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962775" y="6652171"/>
            <a:ext cx="47986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DADOS INSUFICIENTES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62775" y="7080796"/>
            <a:ext cx="449332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950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Cartão com a regra mínima em vez de um gráfico vazio.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1944350" y="6280696"/>
            <a:ext cx="5105400" cy="3053804"/>
          </a:xfrm>
          <a:prstGeom prst="roundRect">
            <a:avLst>
              <a:gd name="adj" fmla="val 8110"/>
            </a:avLst>
          </a:prstGeom>
          <a:solidFill>
            <a:srgbClr val="131B2B"/>
          </a:solidFill>
          <a:ln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15825" y="6652171"/>
            <a:ext cx="47986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C8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CARREGANDO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15825" y="7080796"/>
            <a:ext cx="449332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950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Esqueleto com a altura do conteúdo final, sem deslocamento de layout.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52500"/>
            <a:ext cx="173926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DECISÕES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8250" y="1400175"/>
            <a:ext cx="17392650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04"/>
              </a:lnSpc>
              <a:buNone/>
            </a:pPr>
            <a:r>
              <a:rPr lang="en-US" sz="5100" b="1" spc="-153" kern="0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Por que o design é assim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238250" y="2607915"/>
            <a:ext cx="7772400" cy="3229868"/>
          </a:xfrm>
          <a:prstGeom prst="roundRect">
            <a:avLst>
              <a:gd name="adj" fmla="val 7667"/>
            </a:avLst>
          </a:prstGeom>
          <a:solidFill>
            <a:srgbClr val="131B2B"/>
          </a:solidFill>
          <a:ln/>
        </p:spPr>
      </p:sp>
      <p:sp>
        <p:nvSpPr>
          <p:cNvPr id="5" name="Text 3"/>
          <p:cNvSpPr/>
          <p:nvPr/>
        </p:nvSpPr>
        <p:spPr>
          <a:xfrm>
            <a:off x="1619250" y="2988915"/>
            <a:ext cx="77114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Grafite azulado, não preto puro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19250" y="3531840"/>
            <a:ext cx="7220712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7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Contraste alto para números grandes sem a dureza do preto, com espaço para dois níveis de superfície.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277350" y="2607915"/>
            <a:ext cx="7772400" cy="3229868"/>
          </a:xfrm>
          <a:prstGeom prst="roundRect">
            <a:avLst>
              <a:gd name="adj" fmla="val 7667"/>
            </a:avLst>
          </a:prstGeom>
          <a:solidFill>
            <a:srgbClr val="131B2B"/>
          </a:solidFill>
          <a:ln/>
        </p:spPr>
      </p:sp>
      <p:sp>
        <p:nvSpPr>
          <p:cNvPr id="8" name="Text 6"/>
          <p:cNvSpPr/>
          <p:nvPr/>
        </p:nvSpPr>
        <p:spPr>
          <a:xfrm>
            <a:off x="9658350" y="2988915"/>
            <a:ext cx="77114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Quatro acentos, papéis fixos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658350" y="3531840"/>
            <a:ext cx="7220712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7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Mint dentro da meta, ciano histórico, âmbar atenção, coral acima. Violeta só como quarta série categórica.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238250" y="6104483"/>
            <a:ext cx="7772400" cy="3230017"/>
          </a:xfrm>
          <a:prstGeom prst="roundRect">
            <a:avLst>
              <a:gd name="adj" fmla="val 7667"/>
            </a:avLst>
          </a:prstGeom>
          <a:solidFill>
            <a:srgbClr val="131B2B"/>
          </a:solidFill>
          <a:ln/>
        </p:spPr>
      </p:sp>
      <p:sp>
        <p:nvSpPr>
          <p:cNvPr id="11" name="Text 9"/>
          <p:cNvSpPr/>
          <p:nvPr/>
        </p:nvSpPr>
        <p:spPr>
          <a:xfrm>
            <a:off x="1619250" y="6485483"/>
            <a:ext cx="77114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Metadado em monoespaçada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619250" y="7028408"/>
            <a:ext cx="7220712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7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Janela, amostra e unidade ficam numa camada própria — o dado nunca compete com sua procedência.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277350" y="6104483"/>
            <a:ext cx="7772400" cy="3230017"/>
          </a:xfrm>
          <a:prstGeom prst="roundRect">
            <a:avLst>
              <a:gd name="adj" fmla="val 7667"/>
            </a:avLst>
          </a:prstGeom>
          <a:solidFill>
            <a:srgbClr val="131B2B"/>
          </a:solidFill>
          <a:ln/>
        </p:spPr>
      </p:sp>
      <p:sp>
        <p:nvSpPr>
          <p:cNvPr id="14" name="Text 12"/>
          <p:cNvSpPr/>
          <p:nvPr/>
        </p:nvSpPr>
        <p:spPr>
          <a:xfrm>
            <a:off x="9658350" y="6485483"/>
            <a:ext cx="77114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Ausência é categoria visual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658350" y="7028408"/>
            <a:ext cx="7220712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7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 sem registro é contorno tracejado, nunca barra zero, e fica fora de todas as médias.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52500"/>
            <a:ext cx="173926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ESCOPO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238250" y="1400175"/>
            <a:ext cx="17392650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304"/>
              </a:lnSpc>
              <a:buNone/>
            </a:pPr>
            <a:r>
              <a:rPr lang="en-US" sz="5100" b="1" spc="-153" kern="0" dirty="0">
                <a:solidFill>
                  <a:srgbClr val="E9EFF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que o produto não faz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238250" y="2607915"/>
            <a:ext cx="5143500" cy="1171575"/>
          </a:xfrm>
          <a:prstGeom prst="roundRect">
            <a:avLst>
              <a:gd name="adj" fmla="val 14634"/>
            </a:avLst>
          </a:prstGeom>
          <a:solidFill>
            <a:srgbClr val="131B2B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2855565"/>
            <a:ext cx="2016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06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782812" y="2865090"/>
            <a:ext cx="44622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Dias ausentes nunca viram consumo zero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6572250" y="2607915"/>
            <a:ext cx="5143500" cy="1171575"/>
          </a:xfrm>
          <a:prstGeom prst="roundRect">
            <a:avLst>
              <a:gd name="adj" fmla="val 14634"/>
            </a:avLst>
          </a:prstGeom>
          <a:solidFill>
            <a:srgbClr val="131B2B"/>
          </a:solidFill>
          <a:ln/>
        </p:spPr>
      </p:sp>
      <p:sp>
        <p:nvSpPr>
          <p:cNvPr id="8" name="Text 6"/>
          <p:cNvSpPr/>
          <p:nvPr/>
        </p:nvSpPr>
        <p:spPr>
          <a:xfrm>
            <a:off x="6838950" y="2855565"/>
            <a:ext cx="2016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06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116812" y="2865090"/>
            <a:ext cx="36437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 previsão de data de peso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1906250" y="2607915"/>
            <a:ext cx="5143500" cy="1171575"/>
          </a:xfrm>
          <a:prstGeom prst="roundRect">
            <a:avLst>
              <a:gd name="adj" fmla="val 14634"/>
            </a:avLst>
          </a:prstGeom>
          <a:solidFill>
            <a:srgbClr val="131B2B"/>
          </a:solidFill>
          <a:ln/>
        </p:spPr>
      </p:sp>
      <p:sp>
        <p:nvSpPr>
          <p:cNvPr id="11" name="Text 9"/>
          <p:cNvSpPr/>
          <p:nvPr/>
        </p:nvSpPr>
        <p:spPr>
          <a:xfrm>
            <a:off x="12172950" y="2855565"/>
            <a:ext cx="2016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06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50812" y="2865090"/>
            <a:ext cx="40189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 TDEE ou balanço energético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238250" y="3969990"/>
            <a:ext cx="5143500" cy="1171575"/>
          </a:xfrm>
          <a:prstGeom prst="roundRect">
            <a:avLst>
              <a:gd name="adj" fmla="val 14634"/>
            </a:avLst>
          </a:prstGeom>
          <a:solidFill>
            <a:srgbClr val="131B2B"/>
          </a:solidFill>
          <a:ln/>
        </p:spPr>
      </p:sp>
      <p:sp>
        <p:nvSpPr>
          <p:cNvPr id="14" name="Text 12"/>
          <p:cNvSpPr/>
          <p:nvPr/>
        </p:nvSpPr>
        <p:spPr>
          <a:xfrm>
            <a:off x="1504950" y="4217640"/>
            <a:ext cx="2016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06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782812" y="4227165"/>
            <a:ext cx="44622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 correlação numérica peso × calorias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6572250" y="3969990"/>
            <a:ext cx="5143500" cy="1171575"/>
          </a:xfrm>
          <a:prstGeom prst="roundRect">
            <a:avLst>
              <a:gd name="adj" fmla="val 14634"/>
            </a:avLst>
          </a:prstGeom>
          <a:solidFill>
            <a:srgbClr val="131B2B"/>
          </a:solidFill>
          <a:ln/>
        </p:spPr>
      </p:sp>
      <p:sp>
        <p:nvSpPr>
          <p:cNvPr id="17" name="Text 15"/>
          <p:cNvSpPr/>
          <p:nvPr/>
        </p:nvSpPr>
        <p:spPr>
          <a:xfrm>
            <a:off x="6838950" y="4217640"/>
            <a:ext cx="2016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06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116812" y="4227165"/>
            <a:ext cx="321823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 score de alimentação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1906250" y="3969990"/>
            <a:ext cx="5143500" cy="1171575"/>
          </a:xfrm>
          <a:prstGeom prst="roundRect">
            <a:avLst>
              <a:gd name="adj" fmla="val 14634"/>
            </a:avLst>
          </a:prstGeom>
          <a:solidFill>
            <a:srgbClr val="131B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172950" y="4217640"/>
            <a:ext cx="2016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06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2450812" y="4227165"/>
            <a:ext cx="38259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 classificação de alimentos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1238250" y="5332065"/>
            <a:ext cx="5143500" cy="1171575"/>
          </a:xfrm>
          <a:prstGeom prst="roundRect">
            <a:avLst>
              <a:gd name="adj" fmla="val 14634"/>
            </a:avLst>
          </a:prstGeom>
          <a:solidFill>
            <a:srgbClr val="131B2B"/>
          </a:solidFill>
          <a:ln/>
        </p:spPr>
      </p:sp>
      <p:sp>
        <p:nvSpPr>
          <p:cNvPr id="23" name="Text 21"/>
          <p:cNvSpPr/>
          <p:nvPr/>
        </p:nvSpPr>
        <p:spPr>
          <a:xfrm>
            <a:off x="1504950" y="5579715"/>
            <a:ext cx="2016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06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782812" y="5589240"/>
            <a:ext cx="398488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 insights de micronutrientes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6572250" y="5332065"/>
            <a:ext cx="5143500" cy="1171575"/>
          </a:xfrm>
          <a:prstGeom prst="roundRect">
            <a:avLst>
              <a:gd name="adj" fmla="val 14634"/>
            </a:avLst>
          </a:prstGeom>
          <a:solidFill>
            <a:srgbClr val="131B2B"/>
          </a:solidFill>
          <a:ln/>
        </p:spPr>
      </p:sp>
      <p:sp>
        <p:nvSpPr>
          <p:cNvPr id="26" name="Text 24"/>
          <p:cNvSpPr/>
          <p:nvPr/>
        </p:nvSpPr>
        <p:spPr>
          <a:xfrm>
            <a:off x="6838950" y="5579715"/>
            <a:ext cx="2016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06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7116812" y="5589240"/>
            <a:ext cx="44622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 recomendação médica ou nutricional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1906250" y="5332065"/>
            <a:ext cx="5143500" cy="1171575"/>
          </a:xfrm>
          <a:prstGeom prst="roundRect">
            <a:avLst>
              <a:gd name="adj" fmla="val 14634"/>
            </a:avLst>
          </a:prstGeom>
          <a:solidFill>
            <a:srgbClr val="131B2B"/>
          </a:solidFill>
          <a:ln/>
        </p:spPr>
      </p:sp>
      <p:sp>
        <p:nvSpPr>
          <p:cNvPr id="29" name="Text 27"/>
          <p:cNvSpPr/>
          <p:nvPr/>
        </p:nvSpPr>
        <p:spPr>
          <a:xfrm>
            <a:off x="12172950" y="5579715"/>
            <a:ext cx="2016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06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2450812" y="5589240"/>
            <a:ext cx="364142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 horário exato de refeição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1238250" y="6694140"/>
            <a:ext cx="5143500" cy="1171575"/>
          </a:xfrm>
          <a:prstGeom prst="roundRect">
            <a:avLst>
              <a:gd name="adj" fmla="val 14634"/>
            </a:avLst>
          </a:prstGeom>
          <a:solidFill>
            <a:srgbClr val="131B2B"/>
          </a:solidFill>
          <a:ln/>
        </p:spPr>
      </p:sp>
      <p:sp>
        <p:nvSpPr>
          <p:cNvPr id="32" name="Text 30"/>
          <p:cNvSpPr/>
          <p:nvPr/>
        </p:nvSpPr>
        <p:spPr>
          <a:xfrm>
            <a:off x="1504950" y="6941790"/>
            <a:ext cx="2016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06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782812" y="6951315"/>
            <a:ext cx="370936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 detecção de sub-registro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6572250" y="6694140"/>
            <a:ext cx="5143500" cy="1171575"/>
          </a:xfrm>
          <a:prstGeom prst="roundRect">
            <a:avLst>
              <a:gd name="adj" fmla="val 14634"/>
            </a:avLst>
          </a:prstGeom>
          <a:solidFill>
            <a:srgbClr val="131B2B"/>
          </a:solidFill>
          <a:ln/>
        </p:spPr>
      </p:sp>
      <p:sp>
        <p:nvSpPr>
          <p:cNvPr id="35" name="Text 33"/>
          <p:cNvSpPr/>
          <p:nvPr/>
        </p:nvSpPr>
        <p:spPr>
          <a:xfrm>
            <a:off x="6838950" y="6941790"/>
            <a:ext cx="2016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06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7116812" y="6951315"/>
            <a:ext cx="446220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Alimentos só com sincronização detalhada</a:t>
            </a:r>
            <a:endParaRPr lang="en-US" sz="1875" dirty="0"/>
          </a:p>
        </p:txBody>
      </p:sp>
      <p:sp>
        <p:nvSpPr>
          <p:cNvPr id="37" name="Shape 35"/>
          <p:cNvSpPr/>
          <p:nvPr/>
        </p:nvSpPr>
        <p:spPr>
          <a:xfrm>
            <a:off x="11906250" y="6694140"/>
            <a:ext cx="5143500" cy="1171575"/>
          </a:xfrm>
          <a:prstGeom prst="roundRect">
            <a:avLst>
              <a:gd name="adj" fmla="val 14634"/>
            </a:avLst>
          </a:prstGeom>
          <a:solidFill>
            <a:srgbClr val="131B2B"/>
          </a:solidFill>
          <a:ln/>
        </p:spPr>
      </p:sp>
      <p:sp>
        <p:nvSpPr>
          <p:cNvPr id="38" name="Text 36"/>
          <p:cNvSpPr/>
          <p:nvPr/>
        </p:nvSpPr>
        <p:spPr>
          <a:xfrm>
            <a:off x="12172950" y="6941790"/>
            <a:ext cx="2016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0806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×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12450812" y="6951315"/>
            <a:ext cx="3365406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93A3B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Metas de macros são locais</a:t>
            </a:r>
            <a:endParaRPr lang="en-US" sz="1875" dirty="0"/>
          </a:p>
        </p:txBody>
      </p:sp>
      <p:sp>
        <p:nvSpPr>
          <p:cNvPr id="40" name="Text 38"/>
          <p:cNvSpPr/>
          <p:nvPr/>
        </p:nvSpPr>
        <p:spPr>
          <a:xfrm>
            <a:off x="1238250" y="9058275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4748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TODOS OS NÚMEROS DESTE DECK SÃO DEMONSTRATIVOS · METAS NUTRICIONAIS SÃO LOCAIS, NÃO VÊM DA API FATSECRET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2026-07-25T19:10:53Z</dcterms:created>
  <dcterms:modified xsi:type="dcterms:W3CDTF">2026-07-25T19:10:53Z</dcterms:modified>
</cp:coreProperties>
</file>